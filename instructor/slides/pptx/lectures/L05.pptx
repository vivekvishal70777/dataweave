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Transform Message on screen. Students need a one-sentence definition they can repeat in an interview.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DataWeave is MuleSoft’s functional data transformation language. In Mule 4 it is the primary way to map, filter, enrich, and convert payloads between formats such as JSON, XML, CSV, Java objects, and strings. Scripts run inside the Transform Message component and also as DataWeave expressions (`#[...]`) in other processors.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L05</a:t>
            </a:r>
          </a:p>
        </p:txBody>
      </p:sp>
      <p:sp>
        <p:nvSpPr>
          <p:cNvPr id="4" name="TextBox 3"/>
          <p:cNvSpPr txBox="1"/>
          <p:nvPr/>
        </p:nvSpPr>
        <p:spPr>
          <a:xfrm>
            <a:off x="640080" y="1828800"/>
            <a:ext cx="6675120" cy="1645920"/>
          </a:xfrm>
          <a:prstGeom prst="rect">
            <a:avLst/>
          </a:prstGeom>
          <a:noFill/>
        </p:spPr>
        <p:txBody>
          <a:bodyPr wrap="square">
            <a:spAutoFit/>
          </a:bodyPr>
          <a:lstStyle/>
          <a:p>
            <a:r>
              <a:rPr sz="4000" b="1">
                <a:solidFill>
                  <a:srgbClr val="FFFFFF"/>
                </a:solidFill>
                <a:latin typeface="Calibri"/>
              </a:rPr>
              <a:t>What is DataWeave in Mule 4?</a:t>
            </a:r>
          </a:p>
        </p:txBody>
      </p:sp>
      <p:sp>
        <p:nvSpPr>
          <p:cNvPr id="5" name="TextBox 4"/>
          <p:cNvSpPr txBox="1"/>
          <p:nvPr/>
        </p:nvSpPr>
        <p:spPr>
          <a:xfrm>
            <a:off x="640080" y="3794760"/>
            <a:ext cx="6675120" cy="1097280"/>
          </a:xfrm>
          <a:prstGeom prst="rect">
            <a:avLst/>
          </a:prstGeom>
          <a:noFill/>
        </p:spPr>
        <p:txBody>
          <a:bodyPr wrap="square">
            <a:spAutoFit/>
          </a:bodyPr>
          <a:lstStyle/>
          <a:p>
            <a:r>
              <a:rPr sz="1800" b="0">
                <a:solidFill>
                  <a:srgbClr val="B7CBDE"/>
                </a:solidFill>
                <a:latin typeface="Calibri"/>
              </a:rPr>
              <a:t>Record from this deck. Switch to the Playground when a code slide appears.</a:t>
            </a:r>
          </a:p>
        </p:txBody>
      </p:sp>
      <p:sp>
        <p:nvSpPr>
          <p:cNvPr id="6" name="TextBox 5"/>
          <p:cNvSpPr txBox="1"/>
          <p:nvPr/>
        </p:nvSpPr>
        <p:spPr>
          <a:xfrm>
            <a:off x="640080" y="5120640"/>
            <a:ext cx="6766560" cy="457200"/>
          </a:xfrm>
          <a:prstGeom prst="rect">
            <a:avLst/>
          </a:prstGeom>
          <a:noFill/>
        </p:spPr>
        <p:txBody>
          <a:bodyPr wrap="none">
            <a:spAutoFit/>
          </a:bodyPr>
          <a:lstStyle/>
          <a:p>
            <a:r>
              <a:rPr sz="1500" b="0">
                <a:solidFill>
                  <a:srgbClr val="3EC6FF"/>
                </a:solidFill>
                <a:latin typeface="Calibri"/>
              </a:rPr>
              <a:t>4–6 min   ·   S02-L05-what-is-dataweave.mp4   ·   Video</a:t>
            </a:r>
          </a:p>
        </p:txBody>
      </p:sp>
      <p:pic>
        <p:nvPicPr>
          <p:cNvPr id="7" name="Picture 6" descr="dw-script.jpg"/>
          <p:cNvPicPr>
            <a:picLocks noChangeAspect="1"/>
          </p:cNvPicPr>
          <p:nvPr/>
        </p:nvPicPr>
        <p:blipFill>
          <a:blip r:embed="rId2"/>
          <a:stretch>
            <a:fillRect/>
          </a:stretch>
        </p:blipFill>
        <p:spPr>
          <a:xfrm>
            <a:off x="7452360" y="1325880"/>
            <a:ext cx="4160520" cy="4160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L05</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Open</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Open with a Transform Message on screen. Students need a one-sentence definition they can repeat in an interview.</a:t>
            </a:r>
          </a:p>
        </p:txBody>
      </p:sp>
      <p:pic>
        <p:nvPicPr>
          <p:cNvPr id="6" name="Picture 5" descr="dw-script.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L05</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Q1. What is DataWeave?</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DataWeave is MuleSoft’s functional data transformation language.</a:t>
            </a:r>
          </a:p>
          <a:p>
            <a:pPr>
              <a:spcAft>
                <a:spcPts val="1400"/>
              </a:spcAft>
            </a:pPr>
            <a:r>
              <a:rPr sz="2200" b="0">
                <a:solidFill>
                  <a:srgbClr val="FFFFFF"/>
                </a:solidFill>
                <a:latin typeface="Calibri"/>
              </a:rPr>
              <a:t>•  In Mule 4 it is the primary way to map, filter, enrich, and convert payloads between formats such as JSON, XML, CSV, Java objects, and strings.</a:t>
            </a:r>
          </a:p>
          <a:p>
            <a:pPr>
              <a:spcAft>
                <a:spcPts val="1400"/>
              </a:spcAft>
            </a:pPr>
            <a:r>
              <a:rPr sz="2200" b="0">
                <a:solidFill>
                  <a:srgbClr val="FFFFFF"/>
                </a:solidFill>
                <a:latin typeface="Calibri"/>
              </a:rPr>
              <a:t>•  Scripts run inside the Transform Message component and also as DataWeave expressions (#[...]) in other processors.</a:t>
            </a:r>
          </a:p>
        </p:txBody>
      </p:sp>
      <p:pic>
        <p:nvPicPr>
          <p:cNvPr id="6" name="Picture 5" descr="dw-script.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L05</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Next</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Stop. Do not start a new topic.</a:t>
            </a:r>
          </a:p>
        </p:txBody>
      </p:sp>
      <p:pic>
        <p:nvPicPr>
          <p:cNvPr id="6" name="Picture 5" descr="dw-script.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