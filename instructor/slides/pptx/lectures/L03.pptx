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PowerPoint Slide Show (F5). Share this window. Switch to Playground on code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`student/00-getting-started.md` and scroll slowly. This lecture can be an **article** on Udemy; use this transcript if you record a voiceover instead.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Before Lab 01, set up once. Option A: open the DataWeave Playground in your browser. That is enough for almost every exercise. Option B: Anypoint Studio or Anypoint Code Builder, a Mule 4 project, and a Transform Message component. If you need the update operator, drop, take, divideBy, or leftJoin, use Mule 4.3 or newer. The lab ritual never changes. Open the lab README. Paste the sample input. Set the MIME type — JSON unless the lab says XML or CSV. Replace the TODO in transform.dwl. Leave the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Before Lab 01, set up once. Option A: open the DataWeave Playground in your browser. That is enough for almost every exercise. Option B: Anypoint Studio or Anypoint Code Builder, a Mule 4 project, and a Transform Message component. If you need the update operator, drop, take, divideBy, or leftJoin, use Mule 4.3 or newer. The lab ritual never changes. Open the lab README. Paste the sample input. Set the MIME type — JSON unless the lab says XML or CSV. Replace the TODO in transform.dwl. Leave the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Before Lab 01, set up once. Option A: open the DataWeave Playground in your browser. That is enough for almost every exercise. Option B: Anypoint Studio or Anypoint Code Builder, a Mule 4 project, and a Transform Message component. If you need the update operator, drop, take, divideBy, or leftJoin, use Mule 4.3 or newer. The lab ritual never changes. Open the lab README. Paste the sample input. Set the MIME type — JSON unless the lab says XML or CSV. Replace the TODO in transform.dwl. Leave the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L03</a:t>
            </a:r>
          </a:p>
        </p:txBody>
      </p:sp>
      <p:sp>
        <p:nvSpPr>
          <p:cNvPr id="4" name="TextBox 3"/>
          <p:cNvSpPr txBox="1"/>
          <p:nvPr/>
        </p:nvSpPr>
        <p:spPr>
          <a:xfrm>
            <a:off x="640080" y="1920240"/>
            <a:ext cx="10972800" cy="1463040"/>
          </a:xfrm>
          <a:prstGeom prst="rect">
            <a:avLst/>
          </a:prstGeom>
          <a:noFill/>
        </p:spPr>
        <p:txBody>
          <a:bodyPr wrap="square">
            <a:spAutoFit/>
          </a:bodyPr>
          <a:lstStyle/>
          <a:p>
            <a:r>
              <a:rPr sz="4400" b="1">
                <a:solidFill>
                  <a:srgbClr val="FFFFFF"/>
                </a:solidFill>
                <a:latin typeface="Calibri"/>
              </a:rPr>
              <a:t>Getting started: Playground vs Transform Message</a:t>
            </a:r>
          </a:p>
        </p:txBody>
      </p:sp>
      <p:sp>
        <p:nvSpPr>
          <p:cNvPr id="5" name="TextBox 4"/>
          <p:cNvSpPr txBox="1"/>
          <p:nvPr/>
        </p:nvSpPr>
        <p:spPr>
          <a:xfrm>
            <a:off x="640080" y="3657600"/>
            <a:ext cx="10789920" cy="1097280"/>
          </a:xfrm>
          <a:prstGeom prst="rect">
            <a:avLst/>
          </a:prstGeom>
          <a:noFill/>
        </p:spPr>
        <p:txBody>
          <a:bodyPr wrap="square">
            <a:spAutoFit/>
          </a:bodyPr>
          <a:lstStyle/>
          <a:p>
            <a:r>
              <a:rPr sz="2000" b="0">
                <a:solidFill>
                  <a:srgbClr val="B7CBDE"/>
                </a:solidFill>
                <a:latin typeface="Calibri"/>
              </a:rPr>
              <a:t>Record from this deck. Switch to the Playground when a code slide appears.</a:t>
            </a:r>
          </a:p>
        </p:txBody>
      </p:sp>
      <p:sp>
        <p:nvSpPr>
          <p:cNvPr id="6" name="TextBox 5"/>
          <p:cNvSpPr txBox="1"/>
          <p:nvPr/>
        </p:nvSpPr>
        <p:spPr>
          <a:xfrm>
            <a:off x="640080" y="5029200"/>
            <a:ext cx="10972800" cy="457200"/>
          </a:xfrm>
          <a:prstGeom prst="rect">
            <a:avLst/>
          </a:prstGeom>
          <a:noFill/>
        </p:spPr>
        <p:txBody>
          <a:bodyPr wrap="none">
            <a:spAutoFit/>
          </a:bodyPr>
          <a:lstStyle/>
          <a:p>
            <a:r>
              <a:rPr sz="1600" b="0">
                <a:solidFill>
                  <a:srgbClr val="3EC6FF"/>
                </a:solidFill>
                <a:latin typeface="Calibri"/>
              </a:rPr>
              <a:t>4–6 min   ·   S01-L03-getting-started.mp4   ·   Article or voiceover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L03</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On camera</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Open student/00-getting-started.md and scroll slowly. This lecture can be an article on Udemy; use this transcript if you record a voiceover instead.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L03</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Talking points</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Before Lab 01, set up once.</a:t>
            </a:r>
          </a:p>
          <a:p>
            <a:pPr>
              <a:spcAft>
                <a:spcPts val="1400"/>
              </a:spcAft>
            </a:pPr>
            <a:r>
              <a:rPr sz="2400" b="0">
                <a:solidFill>
                  <a:srgbClr val="FFFFFF"/>
                </a:solidFill>
                <a:latin typeface="Calibri"/>
              </a:rPr>
              <a:t>•  Option A: open the DataWeave Playground in your browser. That is enough for almost every exercise.</a:t>
            </a:r>
          </a:p>
          <a:p>
            <a:pPr>
              <a:spcAft>
                <a:spcPts val="1400"/>
              </a:spcAft>
            </a:pPr>
            <a:r>
              <a:rPr sz="2400" b="0">
                <a:solidFill>
                  <a:srgbClr val="FFFFFF"/>
                </a:solidFill>
                <a:latin typeface="Calibri"/>
              </a:rPr>
              <a:t>•  Option B: Anypoint Studio or Anypoint Code Builder, a Mule 4 project, and a Transform Message component.</a:t>
            </a:r>
          </a:p>
          <a:p>
            <a:pPr>
              <a:spcAft>
                <a:spcPts val="1400"/>
              </a:spcAft>
            </a:pPr>
            <a:r>
              <a:rPr sz="2400" b="0">
                <a:solidFill>
                  <a:srgbClr val="FFFFFF"/>
                </a:solidFill>
                <a:latin typeface="Calibri"/>
              </a:rPr>
              <a:t>•  If you need the update operator, drop, take, divideBy, or leftJoin, use Mule 4.3 or newer.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L03</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Talking points (cont.)</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The lab ritual never changes. Open the lab README. Paste the sample input. Set the MIME type — JSON unless the lab says XML or CSV.</a:t>
            </a:r>
          </a:p>
          <a:p>
            <a:pPr>
              <a:spcAft>
                <a:spcPts val="1400"/>
              </a:spcAft>
            </a:pPr>
            <a:r>
              <a:rPr sz="2400" b="0">
                <a:solidFill>
                  <a:srgbClr val="FFFFFF"/>
                </a:solidFill>
                <a:latin typeface="Calibri"/>
              </a:rPr>
              <a:t>•  Replace the TODO in transform.dwl. Leave the percent dw 2.0 header unless the output type must change. Compare your result to Expected.</a:t>
            </a:r>
          </a:p>
          <a:p>
            <a:pPr>
              <a:spcAft>
                <a:spcPts val="1400"/>
              </a:spcAft>
            </a:pPr>
            <a:r>
              <a:rPr sz="2400" b="0">
                <a:solidFill>
                  <a:srgbClr val="FFFFFF"/>
                </a:solidFill>
                <a:latin typeface="Calibri"/>
              </a:rPr>
              <a:t>•  Only then watch the solution video.</a:t>
            </a:r>
          </a:p>
          <a:p>
            <a:pPr>
              <a:spcAft>
                <a:spcPts val="1400"/>
              </a:spcAft>
            </a:pPr>
            <a:r>
              <a:rPr sz="2400" b="0">
                <a:solidFill>
                  <a:srgbClr val="FFFFFF"/>
                </a:solidFill>
                <a:latin typeface="Calibri"/>
              </a:rPr>
              <a:t>•  Trap list: plus versus plus-plus. Missing fields use default or the safe selector, not only Java null checks. XML needs one root. Attributes are at-sign.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L03</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Talking points (cont.)</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Coerce with as Number. If coercion can fail, use try.</a:t>
            </a:r>
          </a:p>
          <a:p>
            <a:pPr>
              <a:spcAft>
                <a:spcPts val="1400"/>
              </a:spcAft>
            </a:pPr>
            <a:r>
              <a:rPr sz="2400" b="0">
                <a:solidFill>
                  <a:srgbClr val="FFFFFF"/>
                </a:solidFill>
                <a:latin typeface="Calibri"/>
              </a:rPr>
              <a:t>•  Work the sections in order. Do not jump to recursion until map, filter, and groupBy feel boring.</a:t>
            </a:r>
          </a:p>
          <a:p>
            <a:pPr>
              <a:spcAft>
                <a:spcPts val="1400"/>
              </a:spcAft>
            </a:pPr>
            <a:r>
              <a:rPr sz="2400" b="0">
                <a:solidFill>
                  <a:srgbClr val="FFFFFF"/>
                </a:solidFill>
                <a:latin typeface="Calibri"/>
              </a:rPr>
              <a:t>•  Next video: I will click through the student folder so you know exactly which file to open.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L03</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Next</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Stop. Do not start a new topic.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