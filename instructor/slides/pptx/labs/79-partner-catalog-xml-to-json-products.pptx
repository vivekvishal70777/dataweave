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PowerPoint Slide Show (F5). Share this window. Switch to Playground on code slides.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Lab 79. Partner catalog XML to JSON products. Read attributes id and repeating Item. price as Number. Single XML root. Partner XML ns URI. Star Item. Attribute id. Price as Number.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Type this. Read the header: percent dw two point oh, output, dash dash dash.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Hold 3–5 seconds. Do not show the solution yet.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Type this. Read the header: percent dw two point oh, output, dash dash dash.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Type this. Read the header: percent dw two point oh, output, dash dash dash.</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Partner XML ns URI. Star Item. Attribute id. Price as Number. If your output differs, check plus versus plus-plus, as Number, and nulls with default. Next lab is the next numbered folder. Stop. Do not start Lab 80 in this file.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56032"/>
            <a:ext cx="10972800" cy="365760"/>
          </a:xfrm>
          <a:prstGeom prst="rect">
            <a:avLst/>
          </a:prstGeom>
          <a:noFill/>
        </p:spPr>
        <p:txBody>
          <a:bodyPr wrap="none">
            <a:spAutoFit/>
          </a:bodyPr>
          <a:lstStyle/>
          <a:p>
            <a:r>
              <a:rPr sz="1400" b="1">
                <a:solidFill>
                  <a:srgbClr val="3EC6FF"/>
                </a:solidFill>
                <a:latin typeface="Calibri"/>
              </a:rPr>
              <a:t>LAB 79</a:t>
            </a:r>
          </a:p>
        </p:txBody>
      </p:sp>
      <p:sp>
        <p:nvSpPr>
          <p:cNvPr id="4" name="TextBox 3"/>
          <p:cNvSpPr txBox="1"/>
          <p:nvPr/>
        </p:nvSpPr>
        <p:spPr>
          <a:xfrm>
            <a:off x="640080" y="1920240"/>
            <a:ext cx="10972800" cy="1463040"/>
          </a:xfrm>
          <a:prstGeom prst="rect">
            <a:avLst/>
          </a:prstGeom>
          <a:noFill/>
        </p:spPr>
        <p:txBody>
          <a:bodyPr wrap="square">
            <a:spAutoFit/>
          </a:bodyPr>
          <a:lstStyle/>
          <a:p>
            <a:r>
              <a:rPr sz="4400" b="1">
                <a:solidFill>
                  <a:srgbClr val="FFFFFF"/>
                </a:solidFill>
                <a:latin typeface="Calibri"/>
              </a:rPr>
              <a:t>Partner catalog XML to JSON products</a:t>
            </a:r>
          </a:p>
        </p:txBody>
      </p:sp>
      <p:sp>
        <p:nvSpPr>
          <p:cNvPr id="5" name="TextBox 4"/>
          <p:cNvSpPr txBox="1"/>
          <p:nvPr/>
        </p:nvSpPr>
        <p:spPr>
          <a:xfrm>
            <a:off x="640080" y="3657600"/>
            <a:ext cx="10789920" cy="1097280"/>
          </a:xfrm>
          <a:prstGeom prst="rect">
            <a:avLst/>
          </a:prstGeom>
          <a:noFill/>
        </p:spPr>
        <p:txBody>
          <a:bodyPr wrap="square">
            <a:spAutoFit/>
          </a:bodyPr>
          <a:lstStyle/>
          <a:p>
            <a:r>
              <a:rPr sz="2000" b="0">
                <a:solidFill>
                  <a:srgbClr val="B7CBDE"/>
                </a:solidFill>
                <a:latin typeface="Calibri"/>
              </a:rPr>
              <a:t>Show the failing starter first. Hold the pause card before any solution.</a:t>
            </a:r>
          </a:p>
        </p:txBody>
      </p:sp>
      <p:sp>
        <p:nvSpPr>
          <p:cNvPr id="6" name="TextBox 5"/>
          <p:cNvSpPr txBox="1"/>
          <p:nvPr/>
        </p:nvSpPr>
        <p:spPr>
          <a:xfrm>
            <a:off x="640080" y="5029200"/>
            <a:ext cx="10972800" cy="457200"/>
          </a:xfrm>
          <a:prstGeom prst="rect">
            <a:avLst/>
          </a:prstGeom>
          <a:noFill/>
        </p:spPr>
        <p:txBody>
          <a:bodyPr wrap="none">
            <a:spAutoFit/>
          </a:bodyPr>
          <a:lstStyle/>
          <a:p>
            <a:r>
              <a:rPr sz="1600" b="0">
                <a:solidFill>
                  <a:srgbClr val="3EC6FF"/>
                </a:solidFill>
                <a:latin typeface="Calibri"/>
              </a:rPr>
              <a:t>mapping   ·   8–12 min   ·   LAB-79-partner-catalog-xml-to-json-products.mp4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56032"/>
            <a:ext cx="10972800" cy="365760"/>
          </a:xfrm>
          <a:prstGeom prst="rect">
            <a:avLst/>
          </a:prstGeom>
          <a:noFill/>
        </p:spPr>
        <p:txBody>
          <a:bodyPr wrap="none">
            <a:spAutoFit/>
          </a:bodyPr>
          <a:lstStyle/>
          <a:p>
            <a:r>
              <a:rPr sz="1400" b="1">
                <a:solidFill>
                  <a:srgbClr val="3EC6FF"/>
                </a:solidFill>
                <a:latin typeface="Calibri"/>
              </a:rPr>
              <a:t>LAB 79</a:t>
            </a:r>
          </a:p>
        </p:txBody>
      </p:sp>
      <p:sp>
        <p:nvSpPr>
          <p:cNvPr id="4" name="TextBox 3"/>
          <p:cNvSpPr txBox="1"/>
          <p:nvPr/>
        </p:nvSpPr>
        <p:spPr>
          <a:xfrm>
            <a:off x="640080" y="685800"/>
            <a:ext cx="10972800" cy="1463040"/>
          </a:xfrm>
          <a:prstGeom prst="rect">
            <a:avLst/>
          </a:prstGeom>
          <a:noFill/>
        </p:spPr>
        <p:txBody>
          <a:bodyPr wrap="square">
            <a:spAutoFit/>
          </a:bodyPr>
          <a:lstStyle/>
          <a:p>
            <a:r>
              <a:rPr sz="3200" b="1">
                <a:solidFill>
                  <a:srgbClr val="FFFFFF"/>
                </a:solidFill>
                <a:latin typeface="Calibri"/>
              </a:rPr>
              <a:t>The job</a:t>
            </a:r>
          </a:p>
        </p:txBody>
      </p:sp>
      <p:sp>
        <p:nvSpPr>
          <p:cNvPr id="5" name="TextBox 4"/>
          <p:cNvSpPr txBox="1"/>
          <p:nvPr/>
        </p:nvSpPr>
        <p:spPr>
          <a:xfrm>
            <a:off x="777240" y="2286000"/>
            <a:ext cx="10607040" cy="4754880"/>
          </a:xfrm>
          <a:prstGeom prst="rect">
            <a:avLst/>
          </a:prstGeom>
          <a:noFill/>
        </p:spPr>
        <p:txBody>
          <a:bodyPr wrap="square">
            <a:spAutoFit/>
          </a:bodyPr>
          <a:lstStyle/>
          <a:p>
            <a:pPr>
              <a:spcAft>
                <a:spcPts val="1400"/>
              </a:spcAft>
            </a:pPr>
            <a:r>
              <a:rPr sz="2400" b="0">
                <a:solidFill>
                  <a:srgbClr val="FFFFFF"/>
                </a:solidFill>
                <a:latin typeface="Calibri"/>
              </a:rPr>
              <a:t>•  This is Lab 79. Partner catalog XML to JSON products. Read attributes id and repeating Item. price as Number. Single XML root.</a:t>
            </a:r>
          </a:p>
          <a:p>
            <a:pPr>
              <a:spcAft>
                <a:spcPts val="1400"/>
              </a:spcAft>
            </a:pPr>
            <a:r>
              <a:rPr sz="2400" b="0">
                <a:solidFill>
                  <a:srgbClr val="FFFFFF"/>
                </a:solidFill>
                <a:latin typeface="Calibri"/>
              </a:rPr>
              <a:t>•  Partner XML ns URI. Star Item. Attribute id. Price as Number.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56032"/>
            <a:ext cx="10972800" cy="365760"/>
          </a:xfrm>
          <a:prstGeom prst="rect">
            <a:avLst/>
          </a:prstGeom>
          <a:noFill/>
        </p:spPr>
        <p:txBody>
          <a:bodyPr wrap="none">
            <a:spAutoFit/>
          </a:bodyPr>
          <a:lstStyle/>
          <a:p>
            <a:r>
              <a:rPr sz="1400" b="1">
                <a:solidFill>
                  <a:srgbClr val="3EC6FF"/>
                </a:solidFill>
                <a:latin typeface="Calibri"/>
              </a:rPr>
              <a:t>LAB 79</a:t>
            </a:r>
          </a:p>
        </p:txBody>
      </p:sp>
      <p:sp>
        <p:nvSpPr>
          <p:cNvPr id="4" name="TextBox 3"/>
          <p:cNvSpPr txBox="1"/>
          <p:nvPr/>
        </p:nvSpPr>
        <p:spPr>
          <a:xfrm>
            <a:off x="640080" y="685800"/>
            <a:ext cx="10972800" cy="1463040"/>
          </a:xfrm>
          <a:prstGeom prst="rect">
            <a:avLst/>
          </a:prstGeom>
          <a:noFill/>
        </p:spPr>
        <p:txBody>
          <a:bodyPr wrap="square">
            <a:spAutoFit/>
          </a:bodyPr>
          <a:lstStyle/>
          <a:p>
            <a:r>
              <a:rPr sz="3200" b="1">
                <a:solidFill>
                  <a:srgbClr val="FFFFFF"/>
                </a:solidFill>
                <a:latin typeface="Calibri"/>
              </a:rPr>
              <a:t>Paste the payload</a:t>
            </a:r>
          </a:p>
        </p:txBody>
      </p:sp>
      <p:sp>
        <p:nvSpPr>
          <p:cNvPr id="5" name="TextBox 4"/>
          <p:cNvSpPr txBox="1"/>
          <p:nvPr/>
        </p:nvSpPr>
        <p:spPr>
          <a:xfrm>
            <a:off x="777240" y="2286000"/>
            <a:ext cx="10607040" cy="4754880"/>
          </a:xfrm>
          <a:prstGeom prst="rect">
            <a:avLst/>
          </a:prstGeom>
          <a:noFill/>
        </p:spPr>
        <p:txBody>
          <a:bodyPr wrap="square">
            <a:spAutoFit/>
          </a:bodyPr>
          <a:lstStyle/>
          <a:p>
            <a:pPr>
              <a:spcAft>
                <a:spcPts val="1400"/>
              </a:spcAft>
            </a:pPr>
            <a:r>
              <a:rPr sz="2400" b="0">
                <a:solidFill>
                  <a:srgbClr val="FFFFFF"/>
                </a:solidFill>
                <a:latin typeface="Calibri"/>
              </a:rPr>
              <a:t>•  Set the MIME type to match the sample.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56032"/>
            <a:ext cx="10972800" cy="365760"/>
          </a:xfrm>
          <a:prstGeom prst="rect">
            <a:avLst/>
          </a:prstGeom>
          <a:noFill/>
        </p:spPr>
        <p:txBody>
          <a:bodyPr wrap="none">
            <a:spAutoFit/>
          </a:bodyPr>
          <a:lstStyle/>
          <a:p>
            <a:r>
              <a:rPr sz="1400" b="1">
                <a:solidFill>
                  <a:srgbClr val="3EC6FF"/>
                </a:solidFill>
                <a:latin typeface="Calibri"/>
              </a:rPr>
              <a:t>LAB 79</a:t>
            </a:r>
          </a:p>
        </p:txBody>
      </p:sp>
      <p:sp>
        <p:nvSpPr>
          <p:cNvPr id="4" name="TextBox 3"/>
          <p:cNvSpPr txBox="1"/>
          <p:nvPr/>
        </p:nvSpPr>
        <p:spPr>
          <a:xfrm>
            <a:off x="640080" y="685800"/>
            <a:ext cx="10972800" cy="1463040"/>
          </a:xfrm>
          <a:prstGeom prst="rect">
            <a:avLst/>
          </a:prstGeom>
          <a:noFill/>
        </p:spPr>
        <p:txBody>
          <a:bodyPr wrap="square">
            <a:spAutoFit/>
          </a:bodyPr>
          <a:lstStyle/>
          <a:p>
            <a:r>
              <a:rPr sz="3200" b="1">
                <a:solidFill>
                  <a:srgbClr val="FFFFFF"/>
                </a:solidFill>
                <a:latin typeface="Calibri"/>
              </a:rPr>
              <a:t>Input</a:t>
            </a:r>
          </a:p>
        </p:txBody>
      </p:sp>
      <p:sp>
        <p:nvSpPr>
          <p:cNvPr id="5" name="Rounded Rectangle 4"/>
          <p:cNvSpPr/>
          <p:nvPr/>
        </p:nvSpPr>
        <p:spPr>
          <a:xfrm>
            <a:off x="640080" y="1874519"/>
            <a:ext cx="10881360" cy="4297680"/>
          </a:xfrm>
          <a:prstGeom prst="roundRect">
            <a:avLst/>
          </a:prstGeom>
          <a:solidFill>
            <a:srgbClr val="06121C"/>
          </a:solidFill>
          <a:ln>
            <a:noFill/>
          </a:ln>
        </p:spPr>
        <p:style>
          <a:lnRef idx="1">
            <a:schemeClr val="accent1"/>
          </a:lnRef>
          <a:fillRef idx="3">
            <a:schemeClr val="accent1"/>
          </a:fillRef>
          <a:effectRef idx="2">
            <a:schemeClr val="accent1"/>
          </a:effectRef>
          <a:fontRef idx="minor">
            <a:schemeClr val="lt1"/>
          </a:fontRef>
        </p:style>
        <p:txBody>
          <a:bodyPr rtlCol="0" anchor="ctr" wrap="square" lIns="256032" tIns="164592"/>
          <a:lstStyle/>
          <a:p>
            <a:pPr algn="ctr">
              <a:spcAft>
                <a:spcPts val="200"/>
              </a:spcAft>
            </a:pPr>
            <a:r>
              <a:rPr sz="1600" b="0">
                <a:solidFill>
                  <a:srgbClr val="D7E8F5"/>
                </a:solidFill>
                <a:latin typeface="Consolas"/>
              </a:rPr>
              <a:t>&lt;Catalog xmlns="http://partner.example/cat"&gt;</a:t>
            </a:r>
          </a:p>
          <a:p>
            <a:pPr>
              <a:spcAft>
                <a:spcPts val="200"/>
              </a:spcAft>
            </a:pPr>
            <a:r>
              <a:rPr sz="1600" b="0">
                <a:solidFill>
                  <a:srgbClr val="D7E8F5"/>
                </a:solidFill>
                <a:latin typeface="Consolas"/>
              </a:rPr>
              <a:t>  &lt;Item id="I1"&gt;&lt;Name&gt;Bolt&lt;/Name&gt;&lt;Price&gt;2.5&lt;/Price&gt;&lt;/Item&gt;</a:t>
            </a:r>
          </a:p>
          <a:p>
            <a:pPr>
              <a:spcAft>
                <a:spcPts val="200"/>
              </a:spcAft>
            </a:pPr>
            <a:r>
              <a:rPr sz="1600" b="0">
                <a:solidFill>
                  <a:srgbClr val="D7E8F5"/>
                </a:solidFill>
                <a:latin typeface="Consolas"/>
              </a:rPr>
              <a:t>  &lt;Item id="I2"&gt;&lt;Name&gt;Nut&lt;/Name&gt;&lt;Price&gt;0.75&lt;/Price&gt;&lt;/Item&gt;</a:t>
            </a:r>
          </a:p>
          <a:p>
            <a:pPr>
              <a:spcAft>
                <a:spcPts val="200"/>
              </a:spcAft>
            </a:pPr>
            <a:r>
              <a:rPr sz="1600" b="0">
                <a:solidFill>
                  <a:srgbClr val="D7E8F5"/>
                </a:solidFill>
                <a:latin typeface="Consolas"/>
              </a:rPr>
              <a:t>&lt;/Catalog&gt;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3D29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56032"/>
            <a:ext cx="10972800" cy="365760"/>
          </a:xfrm>
          <a:prstGeom prst="rect">
            <a:avLst/>
          </a:prstGeom>
          <a:noFill/>
        </p:spPr>
        <p:txBody>
          <a:bodyPr wrap="none">
            <a:spAutoFit/>
          </a:bodyPr>
          <a:lstStyle/>
          <a:p>
            <a:r>
              <a:rPr sz="1400" b="1">
                <a:solidFill>
                  <a:srgbClr val="FFB020"/>
                </a:solidFill>
                <a:latin typeface="Calibri"/>
              </a:rPr>
              <a:t>PAUSE CARD</a:t>
            </a:r>
          </a:p>
        </p:txBody>
      </p:sp>
      <p:sp>
        <p:nvSpPr>
          <p:cNvPr id="4" name="TextBox 3"/>
          <p:cNvSpPr txBox="1"/>
          <p:nvPr/>
        </p:nvSpPr>
        <p:spPr>
          <a:xfrm>
            <a:off x="640080" y="685800"/>
            <a:ext cx="10972800" cy="1463040"/>
          </a:xfrm>
          <a:prstGeom prst="rect">
            <a:avLst/>
          </a:prstGeom>
          <a:noFill/>
        </p:spPr>
        <p:txBody>
          <a:bodyPr wrap="square">
            <a:spAutoFit/>
          </a:bodyPr>
          <a:lstStyle/>
          <a:p>
            <a:r>
              <a:rPr sz="3200" b="1">
                <a:solidFill>
                  <a:srgbClr val="FFFFFF"/>
                </a:solidFill>
                <a:latin typeface="Calibri"/>
              </a:rPr>
              <a:t>Pause — try Lab 79</a:t>
            </a:r>
          </a:p>
        </p:txBody>
      </p:sp>
      <p:sp>
        <p:nvSpPr>
          <p:cNvPr id="5" name="TextBox 4"/>
          <p:cNvSpPr txBox="1"/>
          <p:nvPr/>
        </p:nvSpPr>
        <p:spPr>
          <a:xfrm>
            <a:off x="777240" y="2286000"/>
            <a:ext cx="10607040" cy="4754880"/>
          </a:xfrm>
          <a:prstGeom prst="rect">
            <a:avLst/>
          </a:prstGeom>
          <a:noFill/>
        </p:spPr>
        <p:txBody>
          <a:bodyPr wrap="square">
            <a:spAutoFit/>
          </a:bodyPr>
          <a:lstStyle/>
          <a:p>
            <a:pPr>
              <a:spcAft>
                <a:spcPts val="1400"/>
              </a:spcAft>
            </a:pPr>
            <a:r>
              <a:rPr sz="2400" b="0">
                <a:solidFill>
                  <a:srgbClr val="FFB020"/>
                </a:solidFill>
                <a:latin typeface="Calibri"/>
              </a:rPr>
              <a:t>•  Pause the video</a:t>
            </a:r>
          </a:p>
          <a:p>
            <a:pPr>
              <a:spcAft>
                <a:spcPts val="1400"/>
              </a:spcAft>
            </a:pPr>
            <a:r>
              <a:rPr sz="2400" b="0">
                <a:solidFill>
                  <a:srgbClr val="FFB020"/>
                </a:solidFill>
                <a:latin typeface="Calibri"/>
              </a:rPr>
              <a:t>•  Open student/labs/05-mapping/79-partner-catalog-xml-to-json-products/</a:t>
            </a:r>
          </a:p>
          <a:p>
            <a:pPr>
              <a:spcAft>
                <a:spcPts val="1400"/>
              </a:spcAft>
            </a:pPr>
            <a:r>
              <a:rPr sz="2400" b="0">
                <a:solidFill>
                  <a:srgbClr val="FFB020"/>
                </a:solidFill>
                <a:latin typeface="Calibri"/>
              </a:rPr>
              <a:t>•  Finish transform.dwl — wrong is fine</a:t>
            </a:r>
          </a:p>
          <a:p>
            <a:pPr>
              <a:spcAft>
                <a:spcPts val="1400"/>
              </a:spcAft>
            </a:pPr>
            <a:r>
              <a:rPr sz="2400" b="0">
                <a:solidFill>
                  <a:srgbClr val="FFB020"/>
                </a:solidFill>
                <a:latin typeface="Calibri"/>
              </a:rPr>
              <a:t>•  Resume when you have an attempt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56032"/>
            <a:ext cx="10972800" cy="365760"/>
          </a:xfrm>
          <a:prstGeom prst="rect">
            <a:avLst/>
          </a:prstGeom>
          <a:noFill/>
        </p:spPr>
        <p:txBody>
          <a:bodyPr wrap="none">
            <a:spAutoFit/>
          </a:bodyPr>
          <a:lstStyle/>
          <a:p>
            <a:r>
              <a:rPr sz="1400" b="1">
                <a:solidFill>
                  <a:srgbClr val="3EC6FF"/>
                </a:solidFill>
                <a:latin typeface="Calibri"/>
              </a:rPr>
              <a:t>LAB 79</a:t>
            </a:r>
          </a:p>
        </p:txBody>
      </p:sp>
      <p:sp>
        <p:nvSpPr>
          <p:cNvPr id="4" name="TextBox 3"/>
          <p:cNvSpPr txBox="1"/>
          <p:nvPr/>
        </p:nvSpPr>
        <p:spPr>
          <a:xfrm>
            <a:off x="640080" y="685800"/>
            <a:ext cx="10972800" cy="1463040"/>
          </a:xfrm>
          <a:prstGeom prst="rect">
            <a:avLst/>
          </a:prstGeom>
          <a:noFill/>
        </p:spPr>
        <p:txBody>
          <a:bodyPr wrap="square">
            <a:spAutoFit/>
          </a:bodyPr>
          <a:lstStyle/>
          <a:p>
            <a:r>
              <a:rPr sz="3200" b="1">
                <a:solidFill>
                  <a:srgbClr val="FFFFFF"/>
                </a:solidFill>
                <a:latin typeface="Calibri"/>
              </a:rPr>
              <a:t>Welcome back</a:t>
            </a:r>
          </a:p>
        </p:txBody>
      </p:sp>
      <p:sp>
        <p:nvSpPr>
          <p:cNvPr id="5" name="TextBox 4"/>
          <p:cNvSpPr txBox="1"/>
          <p:nvPr/>
        </p:nvSpPr>
        <p:spPr>
          <a:xfrm>
            <a:off x="777240" y="2286000"/>
            <a:ext cx="10607040" cy="4754880"/>
          </a:xfrm>
          <a:prstGeom prst="rect">
            <a:avLst/>
          </a:prstGeom>
          <a:noFill/>
        </p:spPr>
        <p:txBody>
          <a:bodyPr wrap="square">
            <a:spAutoFit/>
          </a:bodyPr>
          <a:lstStyle/>
          <a:p>
            <a:pPr>
              <a:spcAft>
                <a:spcPts val="1400"/>
              </a:spcAft>
            </a:pPr>
            <a:r>
              <a:rPr sz="2400" b="0">
                <a:solidFill>
                  <a:srgbClr val="FFFFFF"/>
                </a:solidFill>
                <a:latin typeface="Calibri"/>
              </a:rPr>
              <a:t>•  Welcome back. I will type the reference script. Follow along; do not paste blindly. Header first: percent dw two point oh, output, dash dash dash.</a:t>
            </a:r>
          </a:p>
          <a:p>
            <a:pPr>
              <a:spcAft>
                <a:spcPts val="1400"/>
              </a:spcAft>
            </a:pPr>
            <a:r>
              <a:rPr sz="2400" b="0">
                <a:solidFill>
                  <a:srgbClr val="FFFFFF"/>
                </a:solidFill>
                <a:latin typeface="Calibri"/>
              </a:rPr>
              <a:t>•  That should match Expected: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56032"/>
            <a:ext cx="10972800" cy="365760"/>
          </a:xfrm>
          <a:prstGeom prst="rect">
            <a:avLst/>
          </a:prstGeom>
          <a:noFill/>
        </p:spPr>
        <p:txBody>
          <a:bodyPr wrap="none">
            <a:spAutoFit/>
          </a:bodyPr>
          <a:lstStyle/>
          <a:p>
            <a:r>
              <a:rPr sz="1400" b="1">
                <a:solidFill>
                  <a:srgbClr val="3EC6FF"/>
                </a:solidFill>
                <a:latin typeface="Calibri"/>
              </a:rPr>
              <a:t>LAB 79</a:t>
            </a:r>
          </a:p>
        </p:txBody>
      </p:sp>
      <p:sp>
        <p:nvSpPr>
          <p:cNvPr id="4" name="TextBox 3"/>
          <p:cNvSpPr txBox="1"/>
          <p:nvPr/>
        </p:nvSpPr>
        <p:spPr>
          <a:xfrm>
            <a:off x="640080" y="685800"/>
            <a:ext cx="10972800" cy="1463040"/>
          </a:xfrm>
          <a:prstGeom prst="rect">
            <a:avLst/>
          </a:prstGeom>
          <a:noFill/>
        </p:spPr>
        <p:txBody>
          <a:bodyPr wrap="square">
            <a:spAutoFit/>
          </a:bodyPr>
          <a:lstStyle/>
          <a:p>
            <a:r>
              <a:rPr sz="3200" b="1">
                <a:solidFill>
                  <a:srgbClr val="FFFFFF"/>
                </a:solidFill>
                <a:latin typeface="Calibri"/>
              </a:rPr>
              <a:t>Solution</a:t>
            </a:r>
          </a:p>
        </p:txBody>
      </p:sp>
      <p:sp>
        <p:nvSpPr>
          <p:cNvPr id="5" name="Rounded Rectangle 4"/>
          <p:cNvSpPr/>
          <p:nvPr/>
        </p:nvSpPr>
        <p:spPr>
          <a:xfrm>
            <a:off x="640080" y="1874519"/>
            <a:ext cx="10881360" cy="4297680"/>
          </a:xfrm>
          <a:prstGeom prst="roundRect">
            <a:avLst/>
          </a:prstGeom>
          <a:solidFill>
            <a:srgbClr val="06121C"/>
          </a:solidFill>
          <a:ln>
            <a:noFill/>
          </a:ln>
        </p:spPr>
        <p:style>
          <a:lnRef idx="1">
            <a:schemeClr val="accent1"/>
          </a:lnRef>
          <a:fillRef idx="3">
            <a:schemeClr val="accent1"/>
          </a:fillRef>
          <a:effectRef idx="2">
            <a:schemeClr val="accent1"/>
          </a:effectRef>
          <a:fontRef idx="minor">
            <a:schemeClr val="lt1"/>
          </a:fontRef>
        </p:style>
        <p:txBody>
          <a:bodyPr rtlCol="0" anchor="ctr" wrap="square" lIns="256032" tIns="164592"/>
          <a:lstStyle/>
          <a:p>
            <a:pPr algn="ctr">
              <a:spcAft>
                <a:spcPts val="200"/>
              </a:spcAft>
            </a:pPr>
            <a:r>
              <a:rPr sz="1600" b="0">
                <a:solidFill>
                  <a:srgbClr val="D7E8F5"/>
                </a:solidFill>
                <a:latin typeface="Consolas"/>
              </a:rPr>
              <a:t>%dw 2.0</a:t>
            </a:r>
          </a:p>
          <a:p>
            <a:pPr>
              <a:spcAft>
                <a:spcPts val="200"/>
              </a:spcAft>
            </a:pPr>
            <a:r>
              <a:rPr sz="1600" b="0">
                <a:solidFill>
                  <a:srgbClr val="D7E8F5"/>
                </a:solidFill>
                <a:latin typeface="Consolas"/>
              </a:rPr>
              <a:t>ns cat http://partner.example/cat</a:t>
            </a:r>
          </a:p>
          <a:p>
            <a:pPr>
              <a:spcAft>
                <a:spcPts val="200"/>
              </a:spcAft>
            </a:pPr>
            <a:r>
              <a:rPr sz="1600" b="0">
                <a:solidFill>
                  <a:srgbClr val="D7E8F5"/>
                </a:solidFill>
                <a:latin typeface="Consolas"/>
              </a:rPr>
              <a:t>output application/json</a:t>
            </a:r>
          </a:p>
          <a:p>
            <a:pPr>
              <a:spcAft>
                <a:spcPts val="200"/>
              </a:spcAft>
            </a:pPr>
            <a:r>
              <a:rPr sz="1600" b="0">
                <a:solidFill>
                  <a:srgbClr val="D7E8F5"/>
                </a:solidFill>
                <a:latin typeface="Consolas"/>
              </a:rPr>
              <a:t>---</a:t>
            </a:r>
          </a:p>
          <a:p>
            <a:pPr>
              <a:spcAft>
                <a:spcPts val="200"/>
              </a:spcAft>
            </a:pPr>
            <a:r>
              <a:rPr sz="1600" b="0">
                <a:solidFill>
                  <a:srgbClr val="D7E8F5"/>
                </a:solidFill>
                <a:latin typeface="Consolas"/>
              </a:rPr>
              <a:t>payload.cat#Catalog.*cat#Item map {</a:t>
            </a:r>
          </a:p>
          <a:p>
            <a:pPr>
              <a:spcAft>
                <a:spcPts val="200"/>
              </a:spcAft>
            </a:pPr>
            <a:r>
              <a:rPr sz="1600" b="0">
                <a:solidFill>
                  <a:srgbClr val="D7E8F5"/>
                </a:solidFill>
                <a:latin typeface="Consolas"/>
              </a:rPr>
              <a:t>  id: $.@id,</a:t>
            </a:r>
          </a:p>
          <a:p>
            <a:pPr>
              <a:spcAft>
                <a:spcPts val="200"/>
              </a:spcAft>
            </a:pPr>
            <a:r>
              <a:rPr sz="1600" b="0">
                <a:solidFill>
                  <a:srgbClr val="D7E8F5"/>
                </a:solidFill>
                <a:latin typeface="Consolas"/>
              </a:rPr>
              <a:t>  name: $.cat#Name,</a:t>
            </a:r>
          </a:p>
          <a:p>
            <a:pPr>
              <a:spcAft>
                <a:spcPts val="200"/>
              </a:spcAft>
            </a:pPr>
            <a:r>
              <a:rPr sz="1600" b="0">
                <a:solidFill>
                  <a:srgbClr val="D7E8F5"/>
                </a:solidFill>
                <a:latin typeface="Consolas"/>
              </a:rPr>
              <a:t>  price: $.cat#Price as Number</a:t>
            </a:r>
          </a:p>
          <a:p>
            <a:pPr>
              <a:spcAft>
                <a:spcPts val="200"/>
              </a:spcAft>
            </a:pPr>
            <a:r>
              <a:rPr sz="1600" b="0">
                <a:solidFill>
                  <a:srgbClr val="D7E8F5"/>
                </a:solidFill>
                <a:latin typeface="Consolas"/>
              </a:rPr>
              <a: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56032"/>
            <a:ext cx="10972800" cy="365760"/>
          </a:xfrm>
          <a:prstGeom prst="rect">
            <a:avLst/>
          </a:prstGeom>
          <a:noFill/>
        </p:spPr>
        <p:txBody>
          <a:bodyPr wrap="none">
            <a:spAutoFit/>
          </a:bodyPr>
          <a:lstStyle/>
          <a:p>
            <a:r>
              <a:rPr sz="1400" b="1">
                <a:solidFill>
                  <a:srgbClr val="3EC6FF"/>
                </a:solidFill>
                <a:latin typeface="Calibri"/>
              </a:rPr>
              <a:t>LAB 79</a:t>
            </a:r>
          </a:p>
        </p:txBody>
      </p:sp>
      <p:sp>
        <p:nvSpPr>
          <p:cNvPr id="4" name="TextBox 3"/>
          <p:cNvSpPr txBox="1"/>
          <p:nvPr/>
        </p:nvSpPr>
        <p:spPr>
          <a:xfrm>
            <a:off x="640080" y="685800"/>
            <a:ext cx="10972800" cy="1463040"/>
          </a:xfrm>
          <a:prstGeom prst="rect">
            <a:avLst/>
          </a:prstGeom>
          <a:noFill/>
        </p:spPr>
        <p:txBody>
          <a:bodyPr wrap="square">
            <a:spAutoFit/>
          </a:bodyPr>
          <a:lstStyle/>
          <a:p>
            <a:r>
              <a:rPr sz="3200" b="1">
                <a:solidFill>
                  <a:srgbClr val="FFFFFF"/>
                </a:solidFill>
                <a:latin typeface="Calibri"/>
              </a:rPr>
              <a:t>Expected</a:t>
            </a:r>
          </a:p>
        </p:txBody>
      </p:sp>
      <p:sp>
        <p:nvSpPr>
          <p:cNvPr id="5" name="Rounded Rectangle 4"/>
          <p:cNvSpPr/>
          <p:nvPr/>
        </p:nvSpPr>
        <p:spPr>
          <a:xfrm>
            <a:off x="640080" y="1874519"/>
            <a:ext cx="10881360" cy="4297680"/>
          </a:xfrm>
          <a:prstGeom prst="roundRect">
            <a:avLst/>
          </a:prstGeom>
          <a:solidFill>
            <a:srgbClr val="06121C"/>
          </a:solidFill>
          <a:ln>
            <a:noFill/>
          </a:ln>
        </p:spPr>
        <p:style>
          <a:lnRef idx="1">
            <a:schemeClr val="accent1"/>
          </a:lnRef>
          <a:fillRef idx="3">
            <a:schemeClr val="accent1"/>
          </a:fillRef>
          <a:effectRef idx="2">
            <a:schemeClr val="accent1"/>
          </a:effectRef>
          <a:fontRef idx="minor">
            <a:schemeClr val="lt1"/>
          </a:fontRef>
        </p:style>
        <p:txBody>
          <a:bodyPr rtlCol="0" anchor="ctr" wrap="square" lIns="256032" tIns="164592"/>
          <a:lstStyle/>
          <a:p>
            <a:pPr algn="ctr">
              <a:spcAft>
                <a:spcPts val="200"/>
              </a:spcAft>
            </a:pPr>
            <a:r>
              <a:rPr sz="1600" b="0">
                <a:solidFill>
                  <a:srgbClr val="D7E8F5"/>
                </a:solidFill>
                <a:latin typeface="Consolas"/>
              </a:rPr>
              <a:t>[</a:t>
            </a:r>
          </a:p>
          <a:p>
            <a:pPr>
              <a:spcAft>
                <a:spcPts val="200"/>
              </a:spcAft>
            </a:pPr>
            <a:r>
              <a:rPr sz="1600" b="0">
                <a:solidFill>
                  <a:srgbClr val="D7E8F5"/>
                </a:solidFill>
                <a:latin typeface="Consolas"/>
              </a:rPr>
              <a:t>  { "id": "I1", "name": "Bolt", "price": 2.5 },</a:t>
            </a:r>
          </a:p>
          <a:p>
            <a:pPr>
              <a:spcAft>
                <a:spcPts val="200"/>
              </a:spcAft>
            </a:pPr>
            <a:r>
              <a:rPr sz="1600" b="0">
                <a:solidFill>
                  <a:srgbClr val="D7E8F5"/>
                </a:solidFill>
                <a:latin typeface="Consolas"/>
              </a:rPr>
              <a:t>  { "id": "I2", "name": "Nut", "price": 0.75 }</a:t>
            </a:r>
          </a:p>
          <a:p>
            <a:pPr>
              <a:spcAft>
                <a:spcPts val="200"/>
              </a:spcAft>
            </a:pPr>
            <a:r>
              <a:rPr sz="1600" b="0">
                <a:solidFill>
                  <a:srgbClr val="D7E8F5"/>
                </a:solidFill>
                <a:latin typeface="Consolas"/>
              </a:rPr>
              <a: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56032"/>
            <a:ext cx="10972800" cy="365760"/>
          </a:xfrm>
          <a:prstGeom prst="rect">
            <a:avLst/>
          </a:prstGeom>
          <a:noFill/>
        </p:spPr>
        <p:txBody>
          <a:bodyPr wrap="none">
            <a:spAutoFit/>
          </a:bodyPr>
          <a:lstStyle/>
          <a:p>
            <a:r>
              <a:rPr sz="1400" b="1">
                <a:solidFill>
                  <a:srgbClr val="3EC6FF"/>
                </a:solidFill>
                <a:latin typeface="Calibri"/>
              </a:rPr>
              <a:t>LAB 79</a:t>
            </a:r>
          </a:p>
        </p:txBody>
      </p:sp>
      <p:sp>
        <p:nvSpPr>
          <p:cNvPr id="4" name="TextBox 3"/>
          <p:cNvSpPr txBox="1"/>
          <p:nvPr/>
        </p:nvSpPr>
        <p:spPr>
          <a:xfrm>
            <a:off x="640080" y="685800"/>
            <a:ext cx="10972800" cy="1463040"/>
          </a:xfrm>
          <a:prstGeom prst="rect">
            <a:avLst/>
          </a:prstGeom>
          <a:noFill/>
        </p:spPr>
        <p:txBody>
          <a:bodyPr wrap="square">
            <a:spAutoFit/>
          </a:bodyPr>
          <a:lstStyle/>
          <a:p>
            <a:r>
              <a:rPr sz="3200" b="1">
                <a:solidFill>
                  <a:srgbClr val="FFFFFF"/>
                </a:solidFill>
                <a:latin typeface="Calibri"/>
              </a:rPr>
              <a:t>Interview phrase</a:t>
            </a:r>
          </a:p>
        </p:txBody>
      </p:sp>
      <p:sp>
        <p:nvSpPr>
          <p:cNvPr id="5" name="TextBox 4"/>
          <p:cNvSpPr txBox="1"/>
          <p:nvPr/>
        </p:nvSpPr>
        <p:spPr>
          <a:xfrm>
            <a:off x="777240" y="2286000"/>
            <a:ext cx="10607040" cy="4754880"/>
          </a:xfrm>
          <a:prstGeom prst="rect">
            <a:avLst/>
          </a:prstGeom>
          <a:noFill/>
        </p:spPr>
        <p:txBody>
          <a:bodyPr wrap="square">
            <a:spAutoFit/>
          </a:bodyPr>
          <a:lstStyle/>
          <a:p>
            <a:pPr>
              <a:spcAft>
                <a:spcPts val="1400"/>
              </a:spcAft>
            </a:pPr>
            <a:r>
              <a:rPr sz="2400" b="0">
                <a:solidFill>
                  <a:srgbClr val="FFFFFF"/>
                </a:solidFill>
                <a:latin typeface="Calibri"/>
              </a:rPr>
              <a:t>•  Partner XML ns URI. Star Item. Attribute id. Price as Number.</a:t>
            </a:r>
          </a:p>
          <a:p>
            <a:pPr>
              <a:spcAft>
                <a:spcPts val="1400"/>
              </a:spcAft>
            </a:pPr>
            <a:r>
              <a:rPr sz="2400" b="0">
                <a:solidFill>
                  <a:srgbClr val="FFFFFF"/>
                </a:solidFill>
                <a:latin typeface="Calibri"/>
              </a:rPr>
              <a:t>•  If your output differs, check plus versus plus-plus, as Number, and nulls with default. Next lab is the next numbered folder.</a:t>
            </a:r>
          </a:p>
          <a:p>
            <a:pPr>
              <a:spcAft>
                <a:spcPts val="1400"/>
              </a:spcAft>
            </a:pPr>
            <a:r>
              <a:rPr sz="2400" b="0">
                <a:solidFill>
                  <a:srgbClr val="FFFFFF"/>
                </a:solidFill>
                <a:latin typeface="Calibri"/>
              </a:rPr>
              <a:t>•  Stop. Do not start Lab 80 in this file.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