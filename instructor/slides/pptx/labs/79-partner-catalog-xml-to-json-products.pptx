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Lab 79. Partner catalog XML to JSON products. Read attributes id and repeating Item. price as Number. Single XML root. Partner XML ns URI. Star Item. Attribute id. Price as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3–5 seconds. Do not show the solution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XML ns URI. Star Item. Attribute id. Price as Number. If your output differs, check plus versus plus-plus, as Number, and nulls with default. Next lab is the next numbered folder. Stop. Do not start Lab 80 in this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1828800"/>
            <a:ext cx="6675120" cy="1645920"/>
          </a:xfrm>
          <a:prstGeom prst="rect">
            <a:avLst/>
          </a:prstGeom>
          <a:noFill/>
        </p:spPr>
        <p:txBody>
          <a:bodyPr wrap="square">
            <a:spAutoFit/>
          </a:bodyPr>
          <a:lstStyle/>
          <a:p>
            <a:r>
              <a:rPr sz="4000" b="1">
                <a:solidFill>
                  <a:srgbClr val="FFFFFF"/>
                </a:solidFill>
                <a:latin typeface="Calibri"/>
              </a:rPr>
              <a:t>Partner catalog XML to JSON products</a:t>
            </a:r>
          </a:p>
        </p:txBody>
      </p:sp>
      <p:sp>
        <p:nvSpPr>
          <p:cNvPr id="5" name="TextBox 4"/>
          <p:cNvSpPr txBox="1"/>
          <p:nvPr/>
        </p:nvSpPr>
        <p:spPr>
          <a:xfrm>
            <a:off x="640080" y="3794760"/>
            <a:ext cx="6675120" cy="1097280"/>
          </a:xfrm>
          <a:prstGeom prst="rect">
            <a:avLst/>
          </a:prstGeom>
          <a:noFill/>
        </p:spPr>
        <p:txBody>
          <a:bodyPr wrap="square">
            <a:spAutoFit/>
          </a:bodyPr>
          <a:lstStyle/>
          <a:p>
            <a:r>
              <a:rPr sz="1800" b="0">
                <a:solidFill>
                  <a:srgbClr val="B7CBDE"/>
                </a:solidFill>
                <a:latin typeface="Calibri"/>
              </a:rPr>
              <a:t>Show the failing starter first. Hold the pause card before any solution.</a:t>
            </a:r>
          </a:p>
        </p:txBody>
      </p:sp>
      <p:sp>
        <p:nvSpPr>
          <p:cNvPr id="6" name="TextBox 5"/>
          <p:cNvSpPr txBox="1"/>
          <p:nvPr/>
        </p:nvSpPr>
        <p:spPr>
          <a:xfrm>
            <a:off x="640080" y="5120640"/>
            <a:ext cx="6766560" cy="457200"/>
          </a:xfrm>
          <a:prstGeom prst="rect">
            <a:avLst/>
          </a:prstGeom>
          <a:noFill/>
        </p:spPr>
        <p:txBody>
          <a:bodyPr wrap="none">
            <a:spAutoFit/>
          </a:bodyPr>
          <a:lstStyle/>
          <a:p>
            <a:r>
              <a:rPr sz="1500" b="0">
                <a:solidFill>
                  <a:srgbClr val="3EC6FF"/>
                </a:solidFill>
                <a:latin typeface="Calibri"/>
              </a:rPr>
              <a:t>mapping   ·   8–12 min   ·   LAB-79-partner-catalog-xml-to-json-products.mp4</a:t>
            </a:r>
          </a:p>
        </p:txBody>
      </p:sp>
      <p:pic>
        <p:nvPicPr>
          <p:cNvPr id="7" name="Picture 6" descr="dw-formats.jpg"/>
          <p:cNvPicPr>
            <a:picLocks noChangeAspect="1"/>
          </p:cNvPicPr>
          <p:nvPr/>
        </p:nvPicPr>
        <p:blipFill>
          <a:blip r:embed="rId2"/>
          <a:stretch>
            <a:fillRect/>
          </a:stretch>
        </p:blipFill>
        <p:spPr>
          <a:xfrm>
            <a:off x="7452360" y="1325880"/>
            <a:ext cx="4160520" cy="4160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The job</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This is Lab 79. Partner catalog XML to JSON products. Read attributes id and repeating Item. price as Number. Single XML root.</a:t>
            </a:r>
          </a:p>
          <a:p>
            <a:pPr>
              <a:spcAft>
                <a:spcPts val="1400"/>
              </a:spcAft>
            </a:pPr>
            <a:r>
              <a:rPr sz="2200" b="0">
                <a:solidFill>
                  <a:srgbClr val="FFFFFF"/>
                </a:solidFill>
                <a:latin typeface="Calibri"/>
              </a:rPr>
              <a:t>•  Partner XML ns URI. Star Item. Attribute id. Price as Number.</a:t>
            </a:r>
          </a:p>
        </p:txBody>
      </p:sp>
      <p:pic>
        <p:nvPicPr>
          <p:cNvPr id="6" name="Picture 5" descr="dw-formats.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Paste the payload</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Set the MIME type to match the sample.</a:t>
            </a:r>
          </a:p>
        </p:txBody>
      </p:sp>
      <p:pic>
        <p:nvPicPr>
          <p:cNvPr id="6" name="Picture 5" descr="dw-formats.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10972800" cy="1645920"/>
          </a:xfrm>
          <a:prstGeom prst="rect">
            <a:avLst/>
          </a:prstGeom>
          <a:noFill/>
        </p:spPr>
        <p:txBody>
          <a:bodyPr wrap="square">
            <a:spAutoFit/>
          </a:bodyPr>
          <a:lstStyle/>
          <a:p>
            <a:r>
              <a:rPr sz="3000" b="1">
                <a:solidFill>
                  <a:srgbClr val="FFFFFF"/>
                </a:solidFill>
                <a:latin typeface="Calibri"/>
              </a:rPr>
              <a:t>Input</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&lt;Catalog xmlns="http://partner.example/cat"&gt;</a:t>
            </a:r>
          </a:p>
          <a:p>
            <a:pPr>
              <a:spcAft>
                <a:spcPts val="200"/>
              </a:spcAft>
            </a:pPr>
            <a:r>
              <a:rPr sz="1600" b="0">
                <a:solidFill>
                  <a:srgbClr val="D7E8F5"/>
                </a:solidFill>
                <a:latin typeface="Consolas"/>
              </a:rPr>
              <a:t>  &lt;Item id="I1"&gt;&lt;Name&gt;Bolt&lt;/Name&gt;&lt;Price&gt;2.5&lt;/Price&gt;&lt;/Item&gt;</a:t>
            </a:r>
          </a:p>
          <a:p>
            <a:pPr>
              <a:spcAft>
                <a:spcPts val="200"/>
              </a:spcAft>
            </a:pPr>
            <a:r>
              <a:rPr sz="1600" b="0">
                <a:solidFill>
                  <a:srgbClr val="D7E8F5"/>
                </a:solidFill>
                <a:latin typeface="Consolas"/>
              </a:rPr>
              <a:t>  &lt;Item id="I2"&gt;&lt;Name&gt;Nut&lt;/Name&gt;&lt;Price&gt;0.75&lt;/Price&gt;&lt;/Item&gt;</a:t>
            </a:r>
          </a:p>
          <a:p>
            <a:pPr>
              <a:spcAft>
                <a:spcPts val="200"/>
              </a:spcAft>
            </a:pPr>
            <a:r>
              <a:rPr sz="1600" b="0">
                <a:solidFill>
                  <a:srgbClr val="D7E8F5"/>
                </a:solidFill>
                <a:latin typeface="Consolas"/>
              </a:rPr>
              <a:t>&lt;/Catalog&gt;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D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FFB020"/>
                </a:solidFill>
                <a:latin typeface="Calibri"/>
              </a:rPr>
              <a:t>PAUSE CARD</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Pause — try Lab 79</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B020"/>
                </a:solidFill>
                <a:latin typeface="Calibri"/>
              </a:rPr>
              <a:t>•  Pause the video</a:t>
            </a:r>
          </a:p>
          <a:p>
            <a:pPr>
              <a:spcAft>
                <a:spcPts val="1400"/>
              </a:spcAft>
            </a:pPr>
            <a:r>
              <a:rPr sz="2200" b="0">
                <a:solidFill>
                  <a:srgbClr val="FFB020"/>
                </a:solidFill>
                <a:latin typeface="Calibri"/>
              </a:rPr>
              <a:t>•  Open student/labs/05-mapping/79-partner-catalog-xml-to-json-products/</a:t>
            </a:r>
          </a:p>
          <a:p>
            <a:pPr>
              <a:spcAft>
                <a:spcPts val="1400"/>
              </a:spcAft>
            </a:pPr>
            <a:r>
              <a:rPr sz="2200" b="0">
                <a:solidFill>
                  <a:srgbClr val="FFB020"/>
                </a:solidFill>
                <a:latin typeface="Calibri"/>
              </a:rPr>
              <a:t>•  Finish transform.dwl — wrong is fine</a:t>
            </a:r>
          </a:p>
          <a:p>
            <a:pPr>
              <a:spcAft>
                <a:spcPts val="1400"/>
              </a:spcAft>
            </a:pPr>
            <a:r>
              <a:rPr sz="2200" b="0">
                <a:solidFill>
                  <a:srgbClr val="FFB020"/>
                </a:solidFill>
                <a:latin typeface="Calibri"/>
              </a:rPr>
              <a:t>•  Resume when you have an attempt</a:t>
            </a:r>
          </a:p>
        </p:txBody>
      </p:sp>
      <p:pic>
        <p:nvPicPr>
          <p:cNvPr id="6" name="Picture 5" descr="dw-pause.jpg"/>
          <p:cNvPicPr>
            <a:picLocks noChangeAspect="1"/>
          </p:cNvPicPr>
          <p:nvPr/>
        </p:nvPicPr>
        <p:blipFill>
          <a:blip r:embed="rId2"/>
          <a:stretch>
            <a:fillRect/>
          </a:stretch>
        </p:blipFill>
        <p:spPr>
          <a:xfrm>
            <a:off x="8366760" y="1874519"/>
            <a:ext cx="3246120" cy="3246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Welcome back</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Welcome back. I will type the reference script. Follow along; do not paste blindly. Header first: percent dw two point oh, output, dash dash dash.</a:t>
            </a:r>
          </a:p>
          <a:p>
            <a:pPr>
              <a:spcAft>
                <a:spcPts val="1400"/>
              </a:spcAft>
            </a:pPr>
            <a:r>
              <a:rPr sz="2200" b="0">
                <a:solidFill>
                  <a:srgbClr val="FFFFFF"/>
                </a:solidFill>
                <a:latin typeface="Calibri"/>
              </a:rPr>
              <a:t>•  That should match Expected:</a:t>
            </a:r>
          </a:p>
        </p:txBody>
      </p:sp>
      <p:pic>
        <p:nvPicPr>
          <p:cNvPr id="6" name="Picture 5" descr="dw-formats.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10972800" cy="1645920"/>
          </a:xfrm>
          <a:prstGeom prst="rect">
            <a:avLst/>
          </a:prstGeom>
          <a:noFill/>
        </p:spPr>
        <p:txBody>
          <a:bodyPr wrap="square">
            <a:spAutoFit/>
          </a:bodyPr>
          <a:lstStyle/>
          <a:p>
            <a:r>
              <a:rPr sz="3000" b="1">
                <a:solidFill>
                  <a:srgbClr val="FFFFFF"/>
                </a:solidFill>
                <a:latin typeface="Calibri"/>
              </a:rPr>
              <a:t>Solution</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%dw 2.0</a:t>
            </a:r>
          </a:p>
          <a:p>
            <a:pPr>
              <a:spcAft>
                <a:spcPts val="200"/>
              </a:spcAft>
            </a:pPr>
            <a:r>
              <a:rPr sz="1600" b="0">
                <a:solidFill>
                  <a:srgbClr val="D7E8F5"/>
                </a:solidFill>
                <a:latin typeface="Consolas"/>
              </a:rPr>
              <a:t>ns cat http://partner.example/cat</a:t>
            </a:r>
          </a:p>
          <a:p>
            <a:pPr>
              <a:spcAft>
                <a:spcPts val="200"/>
              </a:spcAft>
            </a:pPr>
            <a:r>
              <a:rPr sz="1600" b="0">
                <a:solidFill>
                  <a:srgbClr val="D7E8F5"/>
                </a:solidFill>
                <a:latin typeface="Consolas"/>
              </a:rPr>
              <a:t>output application/json</a:t>
            </a:r>
          </a:p>
          <a:p>
            <a:pPr>
              <a:spcAft>
                <a:spcPts val="200"/>
              </a:spcAft>
            </a:pPr>
            <a:r>
              <a:rPr sz="1600" b="0">
                <a:solidFill>
                  <a:srgbClr val="D7E8F5"/>
                </a:solidFill>
                <a:latin typeface="Consolas"/>
              </a:rPr>
              <a:t>---</a:t>
            </a:r>
          </a:p>
          <a:p>
            <a:pPr>
              <a:spcAft>
                <a:spcPts val="200"/>
              </a:spcAft>
            </a:pPr>
            <a:r>
              <a:rPr sz="1600" b="0">
                <a:solidFill>
                  <a:srgbClr val="D7E8F5"/>
                </a:solidFill>
                <a:latin typeface="Consolas"/>
              </a:rPr>
              <a:t>payload.cat#Catalog.*cat#Item map {</a:t>
            </a:r>
          </a:p>
          <a:p>
            <a:pPr>
              <a:spcAft>
                <a:spcPts val="200"/>
              </a:spcAft>
            </a:pPr>
            <a:r>
              <a:rPr sz="1600" b="0">
                <a:solidFill>
                  <a:srgbClr val="D7E8F5"/>
                </a:solidFill>
                <a:latin typeface="Consolas"/>
              </a:rPr>
              <a:t>  id: $.@id,</a:t>
            </a:r>
          </a:p>
          <a:p>
            <a:pPr>
              <a:spcAft>
                <a:spcPts val="200"/>
              </a:spcAft>
            </a:pPr>
            <a:r>
              <a:rPr sz="1600" b="0">
                <a:solidFill>
                  <a:srgbClr val="D7E8F5"/>
                </a:solidFill>
                <a:latin typeface="Consolas"/>
              </a:rPr>
              <a:t>  name: $.cat#Name,</a:t>
            </a:r>
          </a:p>
          <a:p>
            <a:pPr>
              <a:spcAft>
                <a:spcPts val="200"/>
              </a:spcAft>
            </a:pPr>
            <a:r>
              <a:rPr sz="1600" b="0">
                <a:solidFill>
                  <a:srgbClr val="D7E8F5"/>
                </a:solidFill>
                <a:latin typeface="Consolas"/>
              </a:rPr>
              <a:t>  price: $.cat#Price as Number</a:t>
            </a:r>
          </a:p>
          <a:p>
            <a:pPr>
              <a:spcAft>
                <a:spcPts val="200"/>
              </a:spcAft>
            </a:pPr>
            <a:r>
              <a:rPr sz="1600" b="0">
                <a:solidFill>
                  <a:srgbClr val="D7E8F5"/>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10972800" cy="1645920"/>
          </a:xfrm>
          <a:prstGeom prst="rect">
            <a:avLst/>
          </a:prstGeom>
          <a:noFill/>
        </p:spPr>
        <p:txBody>
          <a:bodyPr wrap="square">
            <a:spAutoFit/>
          </a:bodyPr>
          <a:lstStyle/>
          <a:p>
            <a:r>
              <a:rPr sz="3000" b="1">
                <a:solidFill>
                  <a:srgbClr val="FFFFFF"/>
                </a:solidFill>
                <a:latin typeface="Calibri"/>
              </a:rPr>
              <a:t>Expected</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a:t>
            </a:r>
          </a:p>
          <a:p>
            <a:pPr>
              <a:spcAft>
                <a:spcPts val="200"/>
              </a:spcAft>
            </a:pPr>
            <a:r>
              <a:rPr sz="1600" b="0">
                <a:solidFill>
                  <a:srgbClr val="D7E8F5"/>
                </a:solidFill>
                <a:latin typeface="Consolas"/>
              </a:rPr>
              <a:t>  { "id": "I1", "name": "Bolt", "price": 2.5 },</a:t>
            </a:r>
          </a:p>
          <a:p>
            <a:pPr>
              <a:spcAft>
                <a:spcPts val="200"/>
              </a:spcAft>
            </a:pPr>
            <a:r>
              <a:rPr sz="1600" b="0">
                <a:solidFill>
                  <a:srgbClr val="D7E8F5"/>
                </a:solidFill>
                <a:latin typeface="Consolas"/>
              </a:rPr>
              <a:t>  { "id": "I2", "name": "Nut", "price": 0.75 }</a:t>
            </a:r>
          </a:p>
          <a:p>
            <a:pPr>
              <a:spcAft>
                <a:spcPts val="200"/>
              </a:spcAft>
            </a:pPr>
            <a:r>
              <a:rPr sz="1600" b="0">
                <a:solidFill>
                  <a:srgbClr val="D7E8F5"/>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79</a:t>
            </a:r>
          </a:p>
        </p:txBody>
      </p:sp>
      <p:sp>
        <p:nvSpPr>
          <p:cNvPr id="4" name="TextBox 3"/>
          <p:cNvSpPr txBox="1"/>
          <p:nvPr/>
        </p:nvSpPr>
        <p:spPr>
          <a:xfrm>
            <a:off x="640080" y="658368"/>
            <a:ext cx="7863840" cy="1645920"/>
          </a:xfrm>
          <a:prstGeom prst="rect">
            <a:avLst/>
          </a:prstGeom>
          <a:noFill/>
        </p:spPr>
        <p:txBody>
          <a:bodyPr wrap="square">
            <a:spAutoFit/>
          </a:bodyPr>
          <a:lstStyle/>
          <a:p>
            <a:r>
              <a:rPr sz="3000" b="1">
                <a:solidFill>
                  <a:srgbClr val="FFFFFF"/>
                </a:solidFill>
                <a:latin typeface="Calibri"/>
              </a:rPr>
              <a:t>Interview phrase</a:t>
            </a:r>
          </a:p>
        </p:txBody>
      </p:sp>
      <p:sp>
        <p:nvSpPr>
          <p:cNvPr id="5" name="TextBox 4"/>
          <p:cNvSpPr txBox="1"/>
          <p:nvPr/>
        </p:nvSpPr>
        <p:spPr>
          <a:xfrm>
            <a:off x="777240" y="2331720"/>
            <a:ext cx="7498079" cy="4754880"/>
          </a:xfrm>
          <a:prstGeom prst="rect">
            <a:avLst/>
          </a:prstGeom>
          <a:noFill/>
        </p:spPr>
        <p:txBody>
          <a:bodyPr wrap="square">
            <a:spAutoFit/>
          </a:bodyPr>
          <a:lstStyle/>
          <a:p>
            <a:pPr>
              <a:spcAft>
                <a:spcPts val="1400"/>
              </a:spcAft>
            </a:pPr>
            <a:r>
              <a:rPr sz="2200" b="0">
                <a:solidFill>
                  <a:srgbClr val="FFFFFF"/>
                </a:solidFill>
                <a:latin typeface="Calibri"/>
              </a:rPr>
              <a:t>•  Partner XML ns URI. Star Item. Attribute id. Price as Number.</a:t>
            </a:r>
          </a:p>
          <a:p>
            <a:pPr>
              <a:spcAft>
                <a:spcPts val="1400"/>
              </a:spcAft>
            </a:pPr>
            <a:r>
              <a:rPr sz="2200" b="0">
                <a:solidFill>
                  <a:srgbClr val="FFFFFF"/>
                </a:solidFill>
                <a:latin typeface="Calibri"/>
              </a:rPr>
              <a:t>•  If your output differs, check plus versus plus-plus, as Number, and nulls with default. Next lab is the next numbered folder.</a:t>
            </a:r>
          </a:p>
          <a:p>
            <a:pPr>
              <a:spcAft>
                <a:spcPts val="1400"/>
              </a:spcAft>
            </a:pPr>
            <a:r>
              <a:rPr sz="2200" b="0">
                <a:solidFill>
                  <a:srgbClr val="FFFFFF"/>
                </a:solidFill>
                <a:latin typeface="Calibri"/>
              </a:rPr>
              <a:t>•  Stop. Do not start Lab 80 in this file.</a:t>
            </a:r>
          </a:p>
        </p:txBody>
      </p:sp>
      <p:pic>
        <p:nvPicPr>
          <p:cNvPr id="6" name="Picture 5" descr="dw-interview.jpg"/>
          <p:cNvPicPr>
            <a:picLocks noChangeAspect="1"/>
          </p:cNvPicPr>
          <p:nvPr/>
        </p:nvPicPr>
        <p:blipFill>
          <a:blip r:embed="rId2"/>
          <a:stretch>
            <a:fillRect/>
          </a:stretch>
        </p:blipFill>
        <p:spPr>
          <a:xfrm>
            <a:off x="8732520" y="2057400"/>
            <a:ext cx="2880360" cy="2880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