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PowerPoint Slide Show (F5). Share this window. Switch to Playground on code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Lab 82. Listings filter amenities and map geo. Keep listings that contain amenity parking (any case). Output id, lat, lng, price as Number. amenities map lower contains parking. Flatten geo.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3–5 seconds. Do not show the solution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Read the header: percent dw two point oh, output, dash dash dash.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amenities map lower contains parking. Flatten geo. If your output differs, check plus versus plus-plus, as Number, and nulls with default. Next lab is the next numbered folder. Stop. Do not start Lab 83 in this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1920240"/>
            <a:ext cx="10972800" cy="1463040"/>
          </a:xfrm>
          <a:prstGeom prst="rect">
            <a:avLst/>
          </a:prstGeom>
          <a:noFill/>
        </p:spPr>
        <p:txBody>
          <a:bodyPr wrap="square">
            <a:spAutoFit/>
          </a:bodyPr>
          <a:lstStyle/>
          <a:p>
            <a:r>
              <a:rPr sz="4400" b="1">
                <a:solidFill>
                  <a:srgbClr val="FFFFFF"/>
                </a:solidFill>
                <a:latin typeface="Calibri"/>
              </a:rPr>
              <a:t>Listings filter amenities and map geo</a:t>
            </a:r>
          </a:p>
        </p:txBody>
      </p:sp>
      <p:sp>
        <p:nvSpPr>
          <p:cNvPr id="5" name="TextBox 4"/>
          <p:cNvSpPr txBox="1"/>
          <p:nvPr/>
        </p:nvSpPr>
        <p:spPr>
          <a:xfrm>
            <a:off x="640080" y="3657600"/>
            <a:ext cx="10789920" cy="1097280"/>
          </a:xfrm>
          <a:prstGeom prst="rect">
            <a:avLst/>
          </a:prstGeom>
          <a:noFill/>
        </p:spPr>
        <p:txBody>
          <a:bodyPr wrap="square">
            <a:spAutoFit/>
          </a:bodyPr>
          <a:lstStyle/>
          <a:p>
            <a:r>
              <a:rPr sz="2000" b="0">
                <a:solidFill>
                  <a:srgbClr val="B7CBDE"/>
                </a:solidFill>
                <a:latin typeface="Calibri"/>
              </a:rPr>
              <a:t>Show the failing starter first. Hold the pause card before any solution.</a:t>
            </a:r>
          </a:p>
        </p:txBody>
      </p:sp>
      <p:sp>
        <p:nvSpPr>
          <p:cNvPr id="6" name="TextBox 5"/>
          <p:cNvSpPr txBox="1"/>
          <p:nvPr/>
        </p:nvSpPr>
        <p:spPr>
          <a:xfrm>
            <a:off x="640080" y="5029200"/>
            <a:ext cx="10972800" cy="457200"/>
          </a:xfrm>
          <a:prstGeom prst="rect">
            <a:avLst/>
          </a:prstGeom>
          <a:noFill/>
        </p:spPr>
        <p:txBody>
          <a:bodyPr wrap="none">
            <a:spAutoFit/>
          </a:bodyPr>
          <a:lstStyle/>
          <a:p>
            <a:r>
              <a:rPr sz="1600" b="0">
                <a:solidFill>
                  <a:srgbClr val="3EC6FF"/>
                </a:solidFill>
                <a:latin typeface="Calibri"/>
              </a:rPr>
              <a:t>mapping   ·   8–12 min   ·   LAB-82-listings-filter-amenities-and-map-geo.mp4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The job</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This is Lab 82. Listings filter amenities and map geo. Keep listings that contain amenity parking (any case). Output id, lat, lng, price as Number.</a:t>
            </a:r>
          </a:p>
          <a:p>
            <a:pPr>
              <a:spcAft>
                <a:spcPts val="1400"/>
              </a:spcAft>
            </a:pPr>
            <a:r>
              <a:rPr sz="2400" b="0">
                <a:solidFill>
                  <a:srgbClr val="FFFFFF"/>
                </a:solidFill>
                <a:latin typeface="Calibri"/>
              </a:rPr>
              <a:t>•  amenities map lower contains parking. Flatten geo.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Paste the payload</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Set the MIME type to match the 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Input</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a:t>
            </a:r>
          </a:p>
          <a:p>
            <a:pPr>
              <a:spcAft>
                <a:spcPts val="200"/>
              </a:spcAft>
            </a:pPr>
            <a:r>
              <a:rPr sz="1600" b="0">
                <a:solidFill>
                  <a:srgbClr val="D7E8F5"/>
                </a:solidFill>
                <a:latin typeface="Consolas"/>
              </a:rPr>
              <a:t>  { "id": "L1", "geo": { "lat": 18.5, "lng": 73.8 }, "price": "90", "amenities": ["POOL", "Parking"] },</a:t>
            </a:r>
          </a:p>
          <a:p>
            <a:pPr>
              <a:spcAft>
                <a:spcPts val="200"/>
              </a:spcAft>
            </a:pPr>
            <a:r>
              <a:rPr sz="1600" b="0">
                <a:solidFill>
                  <a:srgbClr val="D7E8F5"/>
                </a:solidFill>
                <a:latin typeface="Consolas"/>
              </a:rPr>
              <a:t>  { "id": "L2", "geo": { "lat": 19.0, "lng": 72.8 }, "price": "70", "amenities": ["gym"] }</a:t>
            </a:r>
          </a:p>
          <a:p>
            <a:pPr>
              <a:spcAft>
                <a:spcPts val="200"/>
              </a:spcAft>
            </a:pPr>
            <a:r>
              <a:rPr sz="1600" b="0">
                <a:solidFill>
                  <a:srgbClr val="D7E8F5"/>
                </a:solidFill>
                <a:latin typeface="Consolas"/>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D29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FFB020"/>
                </a:solidFill>
                <a:latin typeface="Calibri"/>
              </a:rPr>
              <a:t>PAUSE CARD</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Pause — try Lab 82</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B020"/>
                </a:solidFill>
                <a:latin typeface="Calibri"/>
              </a:rPr>
              <a:t>•  Pause the video</a:t>
            </a:r>
          </a:p>
          <a:p>
            <a:pPr>
              <a:spcAft>
                <a:spcPts val="1400"/>
              </a:spcAft>
            </a:pPr>
            <a:r>
              <a:rPr sz="2400" b="0">
                <a:solidFill>
                  <a:srgbClr val="FFB020"/>
                </a:solidFill>
                <a:latin typeface="Calibri"/>
              </a:rPr>
              <a:t>•  Open student/labs/05-mapping/82-listings-filter-amenities-and-map-geo/</a:t>
            </a:r>
          </a:p>
          <a:p>
            <a:pPr>
              <a:spcAft>
                <a:spcPts val="1400"/>
              </a:spcAft>
            </a:pPr>
            <a:r>
              <a:rPr sz="2400" b="0">
                <a:solidFill>
                  <a:srgbClr val="FFB020"/>
                </a:solidFill>
                <a:latin typeface="Calibri"/>
              </a:rPr>
              <a:t>•  Finish transform.dwl — wrong is fine</a:t>
            </a:r>
          </a:p>
          <a:p>
            <a:pPr>
              <a:spcAft>
                <a:spcPts val="1400"/>
              </a:spcAft>
            </a:pPr>
            <a:r>
              <a:rPr sz="2400" b="0">
                <a:solidFill>
                  <a:srgbClr val="FFB020"/>
                </a:solidFill>
                <a:latin typeface="Calibri"/>
              </a:rPr>
              <a:t>•  Resume when you have an attempt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Welcome back</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Welcome back. I will type the reference script. Follow along; do not paste blindly. Header first: percent dw two point oh, output, dash dash dash.</a:t>
            </a:r>
          </a:p>
          <a:p>
            <a:pPr>
              <a:spcAft>
                <a:spcPts val="1400"/>
              </a:spcAft>
            </a:pPr>
            <a:r>
              <a:rPr sz="2400" b="0">
                <a:solidFill>
                  <a:srgbClr val="FFFFFF"/>
                </a:solidFill>
                <a:latin typeface="Calibri"/>
              </a:rPr>
              <a:t>•  That should match Expected: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Solution</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%dw 2.0</a:t>
            </a:r>
          </a:p>
          <a:p>
            <a:pPr>
              <a:spcAft>
                <a:spcPts val="200"/>
              </a:spcAft>
            </a:pPr>
            <a:r>
              <a:rPr sz="1600" b="0">
                <a:solidFill>
                  <a:srgbClr val="D7E8F5"/>
                </a:solidFill>
                <a:latin typeface="Consolas"/>
              </a:rPr>
              <a:t>output application/json</a:t>
            </a:r>
          </a:p>
          <a:p>
            <a:pPr>
              <a:spcAft>
                <a:spcPts val="200"/>
              </a:spcAft>
            </a:pPr>
            <a:r>
              <a:rPr sz="1600" b="0">
                <a:solidFill>
                  <a:srgbClr val="D7E8F5"/>
                </a:solidFill>
                <a:latin typeface="Consolas"/>
              </a:rPr>
              <a:t>---</a:t>
            </a:r>
          </a:p>
          <a:p>
            <a:pPr>
              <a:spcAft>
                <a:spcPts val="200"/>
              </a:spcAft>
            </a:pPr>
            <a:r>
              <a:rPr sz="1600" b="0">
                <a:solidFill>
                  <a:srgbClr val="D7E8F5"/>
                </a:solidFill>
                <a:latin typeface="Consolas"/>
              </a:rPr>
              <a:t>payload</a:t>
            </a:r>
          </a:p>
          <a:p>
            <a:pPr>
              <a:spcAft>
                <a:spcPts val="200"/>
              </a:spcAft>
            </a:pPr>
            <a:r>
              <a:rPr sz="1600" b="0">
                <a:solidFill>
                  <a:srgbClr val="D7E8F5"/>
                </a:solidFill>
                <a:latin typeface="Consolas"/>
              </a:rPr>
              <a:t>  filter ((l) -&gt; (l.amenities map lower($)) contains "parking")</a:t>
            </a:r>
          </a:p>
          <a:p>
            <a:pPr>
              <a:spcAft>
                <a:spcPts val="200"/>
              </a:spcAft>
            </a:pPr>
            <a:r>
              <a:rPr sz="1600" b="0">
                <a:solidFill>
                  <a:srgbClr val="D7E8F5"/>
                </a:solidFill>
                <a:latin typeface="Consolas"/>
              </a:rPr>
              <a:t>  map { id: $.id, lat: $.geo.lat, lng: $.geo.lng, price: $.price as Number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Expected</a:t>
            </a:r>
          </a:p>
        </p:txBody>
      </p:sp>
      <p:sp>
        <p:nvSpPr>
          <p:cNvPr id="5" name="Rounded Rectangle 4"/>
          <p:cNvSpPr/>
          <p:nvPr/>
        </p:nvSpPr>
        <p:spPr>
          <a:xfrm>
            <a:off x="640080" y="1874519"/>
            <a:ext cx="10881360" cy="4297680"/>
          </a:xfrm>
          <a:prstGeom prst="roundRect">
            <a:avLst/>
          </a:prstGeom>
          <a:solidFill>
            <a:srgbClr val="06121C"/>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164592"/>
          <a:lstStyle/>
          <a:p>
            <a:pPr algn="ctr">
              <a:spcAft>
                <a:spcPts val="200"/>
              </a:spcAft>
            </a:pPr>
            <a:r>
              <a:rPr sz="1600" b="0">
                <a:solidFill>
                  <a:srgbClr val="D7E8F5"/>
                </a:solidFill>
                <a:latin typeface="Consolas"/>
              </a:rPr>
              <a:t>[</a:t>
            </a:r>
          </a:p>
          <a:p>
            <a:pPr>
              <a:spcAft>
                <a:spcPts val="200"/>
              </a:spcAft>
            </a:pPr>
            <a:r>
              <a:rPr sz="1600" b="0">
                <a:solidFill>
                  <a:srgbClr val="D7E8F5"/>
                </a:solidFill>
                <a:latin typeface="Consolas"/>
              </a:rPr>
              <a:t>  { "id": "L1", "lat": 18.5, "lng": 73.8, "price": 90 }</a:t>
            </a:r>
          </a:p>
          <a:p>
            <a:pPr>
              <a:spcAft>
                <a:spcPts val="200"/>
              </a:spcAft>
            </a:pPr>
            <a:r>
              <a:rPr sz="1600" b="0">
                <a:solidFill>
                  <a:srgbClr val="D7E8F5"/>
                </a:solidFill>
                <a:latin typeface="Consolas"/>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365760"/>
          </a:xfrm>
          <a:prstGeom prst="rect">
            <a:avLst/>
          </a:prstGeom>
          <a:noFill/>
        </p:spPr>
        <p:txBody>
          <a:bodyPr wrap="none">
            <a:spAutoFit/>
          </a:bodyPr>
          <a:lstStyle/>
          <a:p>
            <a:r>
              <a:rPr sz="1400" b="1">
                <a:solidFill>
                  <a:srgbClr val="3EC6FF"/>
                </a:solidFill>
                <a:latin typeface="Calibri"/>
              </a:rPr>
              <a:t>LAB 82</a:t>
            </a:r>
          </a:p>
        </p:txBody>
      </p:sp>
      <p:sp>
        <p:nvSpPr>
          <p:cNvPr id="4" name="TextBox 3"/>
          <p:cNvSpPr txBox="1"/>
          <p:nvPr/>
        </p:nvSpPr>
        <p:spPr>
          <a:xfrm>
            <a:off x="640080" y="685800"/>
            <a:ext cx="10972800" cy="1463040"/>
          </a:xfrm>
          <a:prstGeom prst="rect">
            <a:avLst/>
          </a:prstGeom>
          <a:noFill/>
        </p:spPr>
        <p:txBody>
          <a:bodyPr wrap="square">
            <a:spAutoFit/>
          </a:bodyPr>
          <a:lstStyle/>
          <a:p>
            <a:r>
              <a:rPr sz="3200" b="1">
                <a:solidFill>
                  <a:srgbClr val="FFFFFF"/>
                </a:solidFill>
                <a:latin typeface="Calibri"/>
              </a:rPr>
              <a:t>Interview phrase</a:t>
            </a:r>
          </a:p>
        </p:txBody>
      </p:sp>
      <p:sp>
        <p:nvSpPr>
          <p:cNvPr id="5" name="TextBox 4"/>
          <p:cNvSpPr txBox="1"/>
          <p:nvPr/>
        </p:nvSpPr>
        <p:spPr>
          <a:xfrm>
            <a:off x="777240" y="2286000"/>
            <a:ext cx="10607040" cy="4754880"/>
          </a:xfrm>
          <a:prstGeom prst="rect">
            <a:avLst/>
          </a:prstGeom>
          <a:noFill/>
        </p:spPr>
        <p:txBody>
          <a:bodyPr wrap="square">
            <a:spAutoFit/>
          </a:bodyPr>
          <a:lstStyle/>
          <a:p>
            <a:pPr>
              <a:spcAft>
                <a:spcPts val="1400"/>
              </a:spcAft>
            </a:pPr>
            <a:r>
              <a:rPr sz="2400" b="0">
                <a:solidFill>
                  <a:srgbClr val="FFFFFF"/>
                </a:solidFill>
                <a:latin typeface="Calibri"/>
              </a:rPr>
              <a:t>•  amenities map lower contains parking. Flatten geo.</a:t>
            </a:r>
          </a:p>
          <a:p>
            <a:pPr>
              <a:spcAft>
                <a:spcPts val="1400"/>
              </a:spcAft>
            </a:pPr>
            <a:r>
              <a:rPr sz="2400" b="0">
                <a:solidFill>
                  <a:srgbClr val="FFFFFF"/>
                </a:solidFill>
                <a:latin typeface="Calibri"/>
              </a:rPr>
              <a:t>•  If your output differs, check plus versus plus-plus, as Number, and nulls with default. Next lab is the next numbered folder.</a:t>
            </a:r>
          </a:p>
          <a:p>
            <a:pPr>
              <a:spcAft>
                <a:spcPts val="1400"/>
              </a:spcAft>
            </a:pPr>
            <a:r>
              <a:rPr sz="2400" b="0">
                <a:solidFill>
                  <a:srgbClr val="FFFFFF"/>
                </a:solidFill>
                <a:latin typeface="Calibri"/>
              </a:rPr>
              <a:t>•  Stop. Do not start Lab 83 in this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