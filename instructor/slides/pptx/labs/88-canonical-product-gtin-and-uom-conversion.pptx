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PowerPoint Slide Show (F5). Share this window. Switch to Playground on code slides.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Lab 88. Canonical product GTIN and UoM conversion. qty in EA. If uom CS, multiply qty by packSize. gtin from first barcode type EAN13. Skip items without GTIN. EAN13 barcode is GTIN. Case pack CS times packSize. Drop missing GTIN.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Type this. Read the header: percent dw two point oh, output, dash dash dash.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Hold 3–5 seconds. Do not show the solution yet.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Type this. Read the header: percent dw two point oh, output, dash dash dash.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Type this. Read the header: percent dw two point oh, output, dash dash dash.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EAN13 barcode is GTIN. Case pack CS times packSize. Drop missing GTIN. If your output differs, check plus versus plus-plus, as Number, and nulls with default. Next lab is the next numbered folder. Stop. Do not start Lab 89 in this file.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56032"/>
            <a:ext cx="10972800" cy="365760"/>
          </a:xfrm>
          <a:prstGeom prst="rect">
            <a:avLst/>
          </a:prstGeom>
          <a:noFill/>
        </p:spPr>
        <p:txBody>
          <a:bodyPr wrap="none">
            <a:spAutoFit/>
          </a:bodyPr>
          <a:lstStyle/>
          <a:p>
            <a:r>
              <a:rPr sz="1400" b="1">
                <a:solidFill>
                  <a:srgbClr val="3EC6FF"/>
                </a:solidFill>
                <a:latin typeface="Calibri"/>
              </a:rPr>
              <a:t>LAB 88</a:t>
            </a:r>
          </a:p>
        </p:txBody>
      </p:sp>
      <p:sp>
        <p:nvSpPr>
          <p:cNvPr id="4" name="TextBox 3"/>
          <p:cNvSpPr txBox="1"/>
          <p:nvPr/>
        </p:nvSpPr>
        <p:spPr>
          <a:xfrm>
            <a:off x="640080" y="1828800"/>
            <a:ext cx="6675120" cy="1645920"/>
          </a:xfrm>
          <a:prstGeom prst="rect">
            <a:avLst/>
          </a:prstGeom>
          <a:noFill/>
        </p:spPr>
        <p:txBody>
          <a:bodyPr wrap="square">
            <a:spAutoFit/>
          </a:bodyPr>
          <a:lstStyle/>
          <a:p>
            <a:r>
              <a:rPr sz="4000" b="1">
                <a:solidFill>
                  <a:srgbClr val="FFFFFF"/>
                </a:solidFill>
                <a:latin typeface="Calibri"/>
              </a:rPr>
              <a:t>Canonical product GTIN and UoM conversion</a:t>
            </a:r>
          </a:p>
        </p:txBody>
      </p:sp>
      <p:sp>
        <p:nvSpPr>
          <p:cNvPr id="5" name="TextBox 4"/>
          <p:cNvSpPr txBox="1"/>
          <p:nvPr/>
        </p:nvSpPr>
        <p:spPr>
          <a:xfrm>
            <a:off x="640080" y="3794760"/>
            <a:ext cx="6675120" cy="1097280"/>
          </a:xfrm>
          <a:prstGeom prst="rect">
            <a:avLst/>
          </a:prstGeom>
          <a:noFill/>
        </p:spPr>
        <p:txBody>
          <a:bodyPr wrap="square">
            <a:spAutoFit/>
          </a:bodyPr>
          <a:lstStyle/>
          <a:p>
            <a:r>
              <a:rPr sz="1800" b="0">
                <a:solidFill>
                  <a:srgbClr val="B7CBDE"/>
                </a:solidFill>
                <a:latin typeface="Calibri"/>
              </a:rPr>
              <a:t>Show the failing starter first. Hold the pause card before any solution.</a:t>
            </a:r>
          </a:p>
        </p:txBody>
      </p:sp>
      <p:sp>
        <p:nvSpPr>
          <p:cNvPr id="6" name="TextBox 5"/>
          <p:cNvSpPr txBox="1"/>
          <p:nvPr/>
        </p:nvSpPr>
        <p:spPr>
          <a:xfrm>
            <a:off x="640080" y="5120640"/>
            <a:ext cx="6766560" cy="457200"/>
          </a:xfrm>
          <a:prstGeom prst="rect">
            <a:avLst/>
          </a:prstGeom>
          <a:noFill/>
        </p:spPr>
        <p:txBody>
          <a:bodyPr wrap="none">
            <a:spAutoFit/>
          </a:bodyPr>
          <a:lstStyle/>
          <a:p>
            <a:r>
              <a:rPr sz="1500" b="0">
                <a:solidFill>
                  <a:srgbClr val="3EC6FF"/>
                </a:solidFill>
                <a:latin typeface="Calibri"/>
              </a:rPr>
              <a:t>mapping   ·   8–12 min   ·   LAB-88-canonical-product-gtin-and-uom-conversion.mp4</a:t>
            </a:r>
          </a:p>
        </p:txBody>
      </p:sp>
      <p:pic>
        <p:nvPicPr>
          <p:cNvPr id="7" name="Picture 6" descr="dw-mapping.jpg"/>
          <p:cNvPicPr>
            <a:picLocks noChangeAspect="1"/>
          </p:cNvPicPr>
          <p:nvPr/>
        </p:nvPicPr>
        <p:blipFill>
          <a:blip r:embed="rId2"/>
          <a:stretch>
            <a:fillRect/>
          </a:stretch>
        </p:blipFill>
        <p:spPr>
          <a:xfrm>
            <a:off x="7452360" y="1325880"/>
            <a:ext cx="4160520" cy="416052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56032"/>
            <a:ext cx="10972800" cy="365760"/>
          </a:xfrm>
          <a:prstGeom prst="rect">
            <a:avLst/>
          </a:prstGeom>
          <a:noFill/>
        </p:spPr>
        <p:txBody>
          <a:bodyPr wrap="none">
            <a:spAutoFit/>
          </a:bodyPr>
          <a:lstStyle/>
          <a:p>
            <a:r>
              <a:rPr sz="1400" b="1">
                <a:solidFill>
                  <a:srgbClr val="3EC6FF"/>
                </a:solidFill>
                <a:latin typeface="Calibri"/>
              </a:rPr>
              <a:t>LAB 88</a:t>
            </a:r>
          </a:p>
        </p:txBody>
      </p:sp>
      <p:sp>
        <p:nvSpPr>
          <p:cNvPr id="4" name="TextBox 3"/>
          <p:cNvSpPr txBox="1"/>
          <p:nvPr/>
        </p:nvSpPr>
        <p:spPr>
          <a:xfrm>
            <a:off x="640080" y="658368"/>
            <a:ext cx="7863840" cy="1645920"/>
          </a:xfrm>
          <a:prstGeom prst="rect">
            <a:avLst/>
          </a:prstGeom>
          <a:noFill/>
        </p:spPr>
        <p:txBody>
          <a:bodyPr wrap="square">
            <a:spAutoFit/>
          </a:bodyPr>
          <a:lstStyle/>
          <a:p>
            <a:r>
              <a:rPr sz="3000" b="1">
                <a:solidFill>
                  <a:srgbClr val="FFFFFF"/>
                </a:solidFill>
                <a:latin typeface="Calibri"/>
              </a:rPr>
              <a:t>The job</a:t>
            </a:r>
          </a:p>
        </p:txBody>
      </p:sp>
      <p:sp>
        <p:nvSpPr>
          <p:cNvPr id="5" name="TextBox 4"/>
          <p:cNvSpPr txBox="1"/>
          <p:nvPr/>
        </p:nvSpPr>
        <p:spPr>
          <a:xfrm>
            <a:off x="777240" y="2331720"/>
            <a:ext cx="7498079" cy="4754880"/>
          </a:xfrm>
          <a:prstGeom prst="rect">
            <a:avLst/>
          </a:prstGeom>
          <a:noFill/>
        </p:spPr>
        <p:txBody>
          <a:bodyPr wrap="square">
            <a:spAutoFit/>
          </a:bodyPr>
          <a:lstStyle/>
          <a:p>
            <a:pPr>
              <a:spcAft>
                <a:spcPts val="1400"/>
              </a:spcAft>
            </a:pPr>
            <a:r>
              <a:rPr sz="2200" b="0">
                <a:solidFill>
                  <a:srgbClr val="FFFFFF"/>
                </a:solidFill>
                <a:latin typeface="Calibri"/>
              </a:rPr>
              <a:t>•  This is Lab 88. Canonical product GTIN and UoM conversion. qty in EA. If uom CS, multiply qty by packSize. gtin from first barcode type EAN13.</a:t>
            </a:r>
          </a:p>
          <a:p>
            <a:pPr>
              <a:spcAft>
                <a:spcPts val="1400"/>
              </a:spcAft>
            </a:pPr>
            <a:r>
              <a:rPr sz="2200" b="0">
                <a:solidFill>
                  <a:srgbClr val="FFFFFF"/>
                </a:solidFill>
                <a:latin typeface="Calibri"/>
              </a:rPr>
              <a:t>•  Skip items without GTIN.</a:t>
            </a:r>
          </a:p>
          <a:p>
            <a:pPr>
              <a:spcAft>
                <a:spcPts val="1400"/>
              </a:spcAft>
            </a:pPr>
            <a:r>
              <a:rPr sz="2200" b="0">
                <a:solidFill>
                  <a:srgbClr val="FFFFFF"/>
                </a:solidFill>
                <a:latin typeface="Calibri"/>
              </a:rPr>
              <a:t>•  EAN13 barcode is GTIN. Case pack CS times packSize. Drop missing GTIN.</a:t>
            </a:r>
          </a:p>
        </p:txBody>
      </p:sp>
      <p:pic>
        <p:nvPicPr>
          <p:cNvPr id="6" name="Picture 5" descr="dw-mapping.jpg"/>
          <p:cNvPicPr>
            <a:picLocks noChangeAspect="1"/>
          </p:cNvPicPr>
          <p:nvPr/>
        </p:nvPicPr>
        <p:blipFill>
          <a:blip r:embed="rId2"/>
          <a:stretch>
            <a:fillRect/>
          </a:stretch>
        </p:blipFill>
        <p:spPr>
          <a:xfrm>
            <a:off x="8732520" y="2057400"/>
            <a:ext cx="2880360" cy="288036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56032"/>
            <a:ext cx="10972800" cy="365760"/>
          </a:xfrm>
          <a:prstGeom prst="rect">
            <a:avLst/>
          </a:prstGeom>
          <a:noFill/>
        </p:spPr>
        <p:txBody>
          <a:bodyPr wrap="none">
            <a:spAutoFit/>
          </a:bodyPr>
          <a:lstStyle/>
          <a:p>
            <a:r>
              <a:rPr sz="1400" b="1">
                <a:solidFill>
                  <a:srgbClr val="3EC6FF"/>
                </a:solidFill>
                <a:latin typeface="Calibri"/>
              </a:rPr>
              <a:t>LAB 88</a:t>
            </a:r>
          </a:p>
        </p:txBody>
      </p:sp>
      <p:sp>
        <p:nvSpPr>
          <p:cNvPr id="4" name="TextBox 3"/>
          <p:cNvSpPr txBox="1"/>
          <p:nvPr/>
        </p:nvSpPr>
        <p:spPr>
          <a:xfrm>
            <a:off x="640080" y="658368"/>
            <a:ext cx="7863840" cy="1645920"/>
          </a:xfrm>
          <a:prstGeom prst="rect">
            <a:avLst/>
          </a:prstGeom>
          <a:noFill/>
        </p:spPr>
        <p:txBody>
          <a:bodyPr wrap="square">
            <a:spAutoFit/>
          </a:bodyPr>
          <a:lstStyle/>
          <a:p>
            <a:r>
              <a:rPr sz="3000" b="1">
                <a:solidFill>
                  <a:srgbClr val="FFFFFF"/>
                </a:solidFill>
                <a:latin typeface="Calibri"/>
              </a:rPr>
              <a:t>Paste the payload</a:t>
            </a:r>
          </a:p>
        </p:txBody>
      </p:sp>
      <p:sp>
        <p:nvSpPr>
          <p:cNvPr id="5" name="TextBox 4"/>
          <p:cNvSpPr txBox="1"/>
          <p:nvPr/>
        </p:nvSpPr>
        <p:spPr>
          <a:xfrm>
            <a:off x="777240" y="2331720"/>
            <a:ext cx="7498079" cy="4754880"/>
          </a:xfrm>
          <a:prstGeom prst="rect">
            <a:avLst/>
          </a:prstGeom>
          <a:noFill/>
        </p:spPr>
        <p:txBody>
          <a:bodyPr wrap="square">
            <a:spAutoFit/>
          </a:bodyPr>
          <a:lstStyle/>
          <a:p>
            <a:pPr>
              <a:spcAft>
                <a:spcPts val="1400"/>
              </a:spcAft>
            </a:pPr>
            <a:r>
              <a:rPr sz="2200" b="0">
                <a:solidFill>
                  <a:srgbClr val="FFFFFF"/>
                </a:solidFill>
                <a:latin typeface="Calibri"/>
              </a:rPr>
              <a:t>•  Set the MIME type to match the sample.</a:t>
            </a:r>
          </a:p>
        </p:txBody>
      </p:sp>
      <p:pic>
        <p:nvPicPr>
          <p:cNvPr id="6" name="Picture 5" descr="dw-mapping.jpg"/>
          <p:cNvPicPr>
            <a:picLocks noChangeAspect="1"/>
          </p:cNvPicPr>
          <p:nvPr/>
        </p:nvPicPr>
        <p:blipFill>
          <a:blip r:embed="rId2"/>
          <a:stretch>
            <a:fillRect/>
          </a:stretch>
        </p:blipFill>
        <p:spPr>
          <a:xfrm>
            <a:off x="8732520" y="2057400"/>
            <a:ext cx="2880360" cy="288036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56032"/>
            <a:ext cx="10972800" cy="365760"/>
          </a:xfrm>
          <a:prstGeom prst="rect">
            <a:avLst/>
          </a:prstGeom>
          <a:noFill/>
        </p:spPr>
        <p:txBody>
          <a:bodyPr wrap="none">
            <a:spAutoFit/>
          </a:bodyPr>
          <a:lstStyle/>
          <a:p>
            <a:r>
              <a:rPr sz="1400" b="1">
                <a:solidFill>
                  <a:srgbClr val="3EC6FF"/>
                </a:solidFill>
                <a:latin typeface="Calibri"/>
              </a:rPr>
              <a:t>LAB 88</a:t>
            </a:r>
          </a:p>
        </p:txBody>
      </p:sp>
      <p:sp>
        <p:nvSpPr>
          <p:cNvPr id="4" name="TextBox 3"/>
          <p:cNvSpPr txBox="1"/>
          <p:nvPr/>
        </p:nvSpPr>
        <p:spPr>
          <a:xfrm>
            <a:off x="640080" y="658368"/>
            <a:ext cx="10972800" cy="1645920"/>
          </a:xfrm>
          <a:prstGeom prst="rect">
            <a:avLst/>
          </a:prstGeom>
          <a:noFill/>
        </p:spPr>
        <p:txBody>
          <a:bodyPr wrap="square">
            <a:spAutoFit/>
          </a:bodyPr>
          <a:lstStyle/>
          <a:p>
            <a:r>
              <a:rPr sz="3000" b="1">
                <a:solidFill>
                  <a:srgbClr val="FFFFFF"/>
                </a:solidFill>
                <a:latin typeface="Calibri"/>
              </a:rPr>
              <a:t>Input</a:t>
            </a:r>
          </a:p>
        </p:txBody>
      </p:sp>
      <p:sp>
        <p:nvSpPr>
          <p:cNvPr id="5" name="Rounded Rectangle 4"/>
          <p:cNvSpPr/>
          <p:nvPr/>
        </p:nvSpPr>
        <p:spPr>
          <a:xfrm>
            <a:off x="640080" y="1874519"/>
            <a:ext cx="10881360" cy="4297680"/>
          </a:xfrm>
          <a:prstGeom prst="roundRect">
            <a:avLst/>
          </a:prstGeom>
          <a:solidFill>
            <a:srgbClr val="06121C"/>
          </a:solidFill>
          <a:ln>
            <a:noFill/>
          </a:ln>
        </p:spPr>
        <p:style>
          <a:lnRef idx="1">
            <a:schemeClr val="accent1"/>
          </a:lnRef>
          <a:fillRef idx="3">
            <a:schemeClr val="accent1"/>
          </a:fillRef>
          <a:effectRef idx="2">
            <a:schemeClr val="accent1"/>
          </a:effectRef>
          <a:fontRef idx="minor">
            <a:schemeClr val="lt1"/>
          </a:fontRef>
        </p:style>
        <p:txBody>
          <a:bodyPr rtlCol="0" anchor="ctr" wrap="square" lIns="256032" tIns="164592"/>
          <a:lstStyle/>
          <a:p>
            <a:pPr algn="ctr">
              <a:spcAft>
                <a:spcPts val="200"/>
              </a:spcAft>
            </a:pPr>
            <a:r>
              <a:rPr sz="1600" b="0">
                <a:solidFill>
                  <a:srgbClr val="D7E8F5"/>
                </a:solidFill>
                <a:latin typeface="Consolas"/>
              </a:rPr>
              <a:t>{</a:t>
            </a:r>
          </a:p>
          <a:p>
            <a:pPr>
              <a:spcAft>
                <a:spcPts val="200"/>
              </a:spcAft>
            </a:pPr>
            <a:r>
              <a:rPr sz="1600" b="0">
                <a:solidFill>
                  <a:srgbClr val="D7E8F5"/>
                </a:solidFill>
                <a:latin typeface="Consolas"/>
              </a:rPr>
              <a:t>  "items": [</a:t>
            </a:r>
          </a:p>
          <a:p>
            <a:pPr>
              <a:spcAft>
                <a:spcPts val="200"/>
              </a:spcAft>
            </a:pPr>
            <a:r>
              <a:rPr sz="1600" b="0">
                <a:solidFill>
                  <a:srgbClr val="D7E8F5"/>
                </a:solidFill>
                <a:latin typeface="Consolas"/>
              </a:rPr>
              <a:t>    { "sku": "S1", "qty": 2, "uom": "CS", "packSize": 10, "barcodes": [{ "type": "UPC", "id": "x" }, { "type": "EAN13", "id": "8901234567890" }] },</a:t>
            </a:r>
          </a:p>
          <a:p>
            <a:pPr>
              <a:spcAft>
                <a:spcPts val="200"/>
              </a:spcAft>
            </a:pPr>
            <a:r>
              <a:rPr sz="1600" b="0">
                <a:solidFill>
                  <a:srgbClr val="D7E8F5"/>
                </a:solidFill>
                <a:latin typeface="Consolas"/>
              </a:rPr>
              <a:t>    { "sku": "S2", "qty": 3, "uom": "EA", "packSize": 1, "barcodes": [{ "type": "EAN13", "id": "8900000000001" }] },</a:t>
            </a:r>
          </a:p>
          <a:p>
            <a:pPr>
              <a:spcAft>
                <a:spcPts val="200"/>
              </a:spcAft>
            </a:pPr>
            <a:r>
              <a:rPr sz="1600" b="0">
                <a:solidFill>
                  <a:srgbClr val="D7E8F5"/>
                </a:solidFill>
                <a:latin typeface="Consolas"/>
              </a:rPr>
              <a:t>    { "sku": "S3", "qty": 1, "uom": "EA", "barcodes": [] }</a:t>
            </a:r>
          </a:p>
          <a:p>
            <a:pPr>
              <a:spcAft>
                <a:spcPts val="200"/>
              </a:spcAft>
            </a:pPr>
            <a:r>
              <a:rPr sz="1600" b="0">
                <a:solidFill>
                  <a:srgbClr val="D7E8F5"/>
                </a:solidFill>
                <a:latin typeface="Consolas"/>
              </a:rPr>
              <a:t>  ]</a:t>
            </a:r>
          </a:p>
          <a:p>
            <a:pPr>
              <a:spcAft>
                <a:spcPts val="200"/>
              </a:spcAft>
            </a:pPr>
            <a:r>
              <a:rPr sz="1600" b="0">
                <a:solidFill>
                  <a:srgbClr val="D7E8F5"/>
                </a:solidFill>
                <a:latin typeface="Consolas"/>
              </a:rPr>
              <a: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3D29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56032"/>
            <a:ext cx="10972800" cy="365760"/>
          </a:xfrm>
          <a:prstGeom prst="rect">
            <a:avLst/>
          </a:prstGeom>
          <a:noFill/>
        </p:spPr>
        <p:txBody>
          <a:bodyPr wrap="none">
            <a:spAutoFit/>
          </a:bodyPr>
          <a:lstStyle/>
          <a:p>
            <a:r>
              <a:rPr sz="1400" b="1">
                <a:solidFill>
                  <a:srgbClr val="FFB020"/>
                </a:solidFill>
                <a:latin typeface="Calibri"/>
              </a:rPr>
              <a:t>PAUSE CARD</a:t>
            </a:r>
          </a:p>
        </p:txBody>
      </p:sp>
      <p:sp>
        <p:nvSpPr>
          <p:cNvPr id="4" name="TextBox 3"/>
          <p:cNvSpPr txBox="1"/>
          <p:nvPr/>
        </p:nvSpPr>
        <p:spPr>
          <a:xfrm>
            <a:off x="640080" y="658368"/>
            <a:ext cx="7863840" cy="1645920"/>
          </a:xfrm>
          <a:prstGeom prst="rect">
            <a:avLst/>
          </a:prstGeom>
          <a:noFill/>
        </p:spPr>
        <p:txBody>
          <a:bodyPr wrap="square">
            <a:spAutoFit/>
          </a:bodyPr>
          <a:lstStyle/>
          <a:p>
            <a:r>
              <a:rPr sz="3000" b="1">
                <a:solidFill>
                  <a:srgbClr val="FFFFFF"/>
                </a:solidFill>
                <a:latin typeface="Calibri"/>
              </a:rPr>
              <a:t>Pause — try Lab 88</a:t>
            </a:r>
          </a:p>
        </p:txBody>
      </p:sp>
      <p:sp>
        <p:nvSpPr>
          <p:cNvPr id="5" name="TextBox 4"/>
          <p:cNvSpPr txBox="1"/>
          <p:nvPr/>
        </p:nvSpPr>
        <p:spPr>
          <a:xfrm>
            <a:off x="777240" y="2331720"/>
            <a:ext cx="7498079" cy="4754880"/>
          </a:xfrm>
          <a:prstGeom prst="rect">
            <a:avLst/>
          </a:prstGeom>
          <a:noFill/>
        </p:spPr>
        <p:txBody>
          <a:bodyPr wrap="square">
            <a:spAutoFit/>
          </a:bodyPr>
          <a:lstStyle/>
          <a:p>
            <a:pPr>
              <a:spcAft>
                <a:spcPts val="1400"/>
              </a:spcAft>
            </a:pPr>
            <a:r>
              <a:rPr sz="2200" b="0">
                <a:solidFill>
                  <a:srgbClr val="FFB020"/>
                </a:solidFill>
                <a:latin typeface="Calibri"/>
              </a:rPr>
              <a:t>•  Pause the video</a:t>
            </a:r>
          </a:p>
          <a:p>
            <a:pPr>
              <a:spcAft>
                <a:spcPts val="1400"/>
              </a:spcAft>
            </a:pPr>
            <a:r>
              <a:rPr sz="2200" b="0">
                <a:solidFill>
                  <a:srgbClr val="FFB020"/>
                </a:solidFill>
                <a:latin typeface="Calibri"/>
              </a:rPr>
              <a:t>•  Open student/labs/05-mapping/88-canonical-product-gtin-and-uom-conversion/</a:t>
            </a:r>
          </a:p>
          <a:p>
            <a:pPr>
              <a:spcAft>
                <a:spcPts val="1400"/>
              </a:spcAft>
            </a:pPr>
            <a:r>
              <a:rPr sz="2200" b="0">
                <a:solidFill>
                  <a:srgbClr val="FFB020"/>
                </a:solidFill>
                <a:latin typeface="Calibri"/>
              </a:rPr>
              <a:t>•  Finish transform.dwl — wrong is fine</a:t>
            </a:r>
          </a:p>
          <a:p>
            <a:pPr>
              <a:spcAft>
                <a:spcPts val="1400"/>
              </a:spcAft>
            </a:pPr>
            <a:r>
              <a:rPr sz="2200" b="0">
                <a:solidFill>
                  <a:srgbClr val="FFB020"/>
                </a:solidFill>
                <a:latin typeface="Calibri"/>
              </a:rPr>
              <a:t>•  Resume when you have an attempt</a:t>
            </a:r>
          </a:p>
        </p:txBody>
      </p:sp>
      <p:pic>
        <p:nvPicPr>
          <p:cNvPr id="6" name="Picture 5" descr="dw-pause.jpg"/>
          <p:cNvPicPr>
            <a:picLocks noChangeAspect="1"/>
          </p:cNvPicPr>
          <p:nvPr/>
        </p:nvPicPr>
        <p:blipFill>
          <a:blip r:embed="rId2"/>
          <a:stretch>
            <a:fillRect/>
          </a:stretch>
        </p:blipFill>
        <p:spPr>
          <a:xfrm>
            <a:off x="8366760" y="1874519"/>
            <a:ext cx="3246120" cy="324612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56032"/>
            <a:ext cx="10972800" cy="365760"/>
          </a:xfrm>
          <a:prstGeom prst="rect">
            <a:avLst/>
          </a:prstGeom>
          <a:noFill/>
        </p:spPr>
        <p:txBody>
          <a:bodyPr wrap="none">
            <a:spAutoFit/>
          </a:bodyPr>
          <a:lstStyle/>
          <a:p>
            <a:r>
              <a:rPr sz="1400" b="1">
                <a:solidFill>
                  <a:srgbClr val="3EC6FF"/>
                </a:solidFill>
                <a:latin typeface="Calibri"/>
              </a:rPr>
              <a:t>LAB 88</a:t>
            </a:r>
          </a:p>
        </p:txBody>
      </p:sp>
      <p:sp>
        <p:nvSpPr>
          <p:cNvPr id="4" name="TextBox 3"/>
          <p:cNvSpPr txBox="1"/>
          <p:nvPr/>
        </p:nvSpPr>
        <p:spPr>
          <a:xfrm>
            <a:off x="640080" y="658368"/>
            <a:ext cx="7863840" cy="1645920"/>
          </a:xfrm>
          <a:prstGeom prst="rect">
            <a:avLst/>
          </a:prstGeom>
          <a:noFill/>
        </p:spPr>
        <p:txBody>
          <a:bodyPr wrap="square">
            <a:spAutoFit/>
          </a:bodyPr>
          <a:lstStyle/>
          <a:p>
            <a:r>
              <a:rPr sz="3000" b="1">
                <a:solidFill>
                  <a:srgbClr val="FFFFFF"/>
                </a:solidFill>
                <a:latin typeface="Calibri"/>
              </a:rPr>
              <a:t>Welcome back</a:t>
            </a:r>
          </a:p>
        </p:txBody>
      </p:sp>
      <p:sp>
        <p:nvSpPr>
          <p:cNvPr id="5" name="TextBox 4"/>
          <p:cNvSpPr txBox="1"/>
          <p:nvPr/>
        </p:nvSpPr>
        <p:spPr>
          <a:xfrm>
            <a:off x="777240" y="2331720"/>
            <a:ext cx="7498079" cy="4754880"/>
          </a:xfrm>
          <a:prstGeom prst="rect">
            <a:avLst/>
          </a:prstGeom>
          <a:noFill/>
        </p:spPr>
        <p:txBody>
          <a:bodyPr wrap="square">
            <a:spAutoFit/>
          </a:bodyPr>
          <a:lstStyle/>
          <a:p>
            <a:pPr>
              <a:spcAft>
                <a:spcPts val="1400"/>
              </a:spcAft>
            </a:pPr>
            <a:r>
              <a:rPr sz="2200" b="0">
                <a:solidFill>
                  <a:srgbClr val="FFFFFF"/>
                </a:solidFill>
                <a:latin typeface="Calibri"/>
              </a:rPr>
              <a:t>•  Welcome back. I will type the reference script. Follow along; do not paste blindly. Header first: percent dw two point oh, output, dash dash dash.</a:t>
            </a:r>
          </a:p>
          <a:p>
            <a:pPr>
              <a:spcAft>
                <a:spcPts val="1400"/>
              </a:spcAft>
            </a:pPr>
            <a:r>
              <a:rPr sz="2200" b="0">
                <a:solidFill>
                  <a:srgbClr val="FFFFFF"/>
                </a:solidFill>
                <a:latin typeface="Calibri"/>
              </a:rPr>
              <a:t>•  That should match Expected:</a:t>
            </a:r>
          </a:p>
        </p:txBody>
      </p:sp>
      <p:pic>
        <p:nvPicPr>
          <p:cNvPr id="6" name="Picture 5" descr="dw-mapping.jpg"/>
          <p:cNvPicPr>
            <a:picLocks noChangeAspect="1"/>
          </p:cNvPicPr>
          <p:nvPr/>
        </p:nvPicPr>
        <p:blipFill>
          <a:blip r:embed="rId2"/>
          <a:stretch>
            <a:fillRect/>
          </a:stretch>
        </p:blipFill>
        <p:spPr>
          <a:xfrm>
            <a:off x="8732520" y="2057400"/>
            <a:ext cx="2880360" cy="288036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56032"/>
            <a:ext cx="10972800" cy="365760"/>
          </a:xfrm>
          <a:prstGeom prst="rect">
            <a:avLst/>
          </a:prstGeom>
          <a:noFill/>
        </p:spPr>
        <p:txBody>
          <a:bodyPr wrap="none">
            <a:spAutoFit/>
          </a:bodyPr>
          <a:lstStyle/>
          <a:p>
            <a:r>
              <a:rPr sz="1400" b="1">
                <a:solidFill>
                  <a:srgbClr val="3EC6FF"/>
                </a:solidFill>
                <a:latin typeface="Calibri"/>
              </a:rPr>
              <a:t>LAB 88</a:t>
            </a:r>
          </a:p>
        </p:txBody>
      </p:sp>
      <p:sp>
        <p:nvSpPr>
          <p:cNvPr id="4" name="TextBox 3"/>
          <p:cNvSpPr txBox="1"/>
          <p:nvPr/>
        </p:nvSpPr>
        <p:spPr>
          <a:xfrm>
            <a:off x="640080" y="658368"/>
            <a:ext cx="10972800" cy="1645920"/>
          </a:xfrm>
          <a:prstGeom prst="rect">
            <a:avLst/>
          </a:prstGeom>
          <a:noFill/>
        </p:spPr>
        <p:txBody>
          <a:bodyPr wrap="square">
            <a:spAutoFit/>
          </a:bodyPr>
          <a:lstStyle/>
          <a:p>
            <a:r>
              <a:rPr sz="3000" b="1">
                <a:solidFill>
                  <a:srgbClr val="FFFFFF"/>
                </a:solidFill>
                <a:latin typeface="Calibri"/>
              </a:rPr>
              <a:t>Solution</a:t>
            </a:r>
          </a:p>
        </p:txBody>
      </p:sp>
      <p:sp>
        <p:nvSpPr>
          <p:cNvPr id="5" name="Rounded Rectangle 4"/>
          <p:cNvSpPr/>
          <p:nvPr/>
        </p:nvSpPr>
        <p:spPr>
          <a:xfrm>
            <a:off x="640080" y="1874519"/>
            <a:ext cx="10881360" cy="4297680"/>
          </a:xfrm>
          <a:prstGeom prst="roundRect">
            <a:avLst/>
          </a:prstGeom>
          <a:solidFill>
            <a:srgbClr val="06121C"/>
          </a:solidFill>
          <a:ln>
            <a:noFill/>
          </a:ln>
        </p:spPr>
        <p:style>
          <a:lnRef idx="1">
            <a:schemeClr val="accent1"/>
          </a:lnRef>
          <a:fillRef idx="3">
            <a:schemeClr val="accent1"/>
          </a:fillRef>
          <a:effectRef idx="2">
            <a:schemeClr val="accent1"/>
          </a:effectRef>
          <a:fontRef idx="minor">
            <a:schemeClr val="lt1"/>
          </a:fontRef>
        </p:style>
        <p:txBody>
          <a:bodyPr rtlCol="0" anchor="ctr" wrap="square" lIns="256032" tIns="164592"/>
          <a:lstStyle/>
          <a:p>
            <a:pPr algn="ctr">
              <a:spcAft>
                <a:spcPts val="200"/>
              </a:spcAft>
            </a:pPr>
            <a:r>
              <a:rPr sz="1300" b="0">
                <a:solidFill>
                  <a:srgbClr val="D7E8F5"/>
                </a:solidFill>
                <a:latin typeface="Consolas"/>
              </a:rPr>
              <a:t>%dw 2.0</a:t>
            </a:r>
          </a:p>
          <a:p>
            <a:pPr>
              <a:spcAft>
                <a:spcPts val="200"/>
              </a:spcAft>
            </a:pPr>
            <a:r>
              <a:rPr sz="1300" b="0">
                <a:solidFill>
                  <a:srgbClr val="D7E8F5"/>
                </a:solidFill>
                <a:latin typeface="Consolas"/>
              </a:rPr>
              <a:t>output application/json</a:t>
            </a:r>
          </a:p>
          <a:p>
            <a:pPr>
              <a:spcAft>
                <a:spcPts val="200"/>
              </a:spcAft>
            </a:pPr>
            <a:r>
              <a:rPr sz="1300" b="0">
                <a:solidFill>
                  <a:srgbClr val="D7E8F5"/>
                </a:solidFill>
                <a:latin typeface="Consolas"/>
              </a:rPr>
              <a:t>---</a:t>
            </a:r>
          </a:p>
          <a:p>
            <a:pPr>
              <a:spcAft>
                <a:spcPts val="200"/>
              </a:spcAft>
            </a:pPr>
            <a:r>
              <a:rPr sz="1300" b="0">
                <a:solidFill>
                  <a:srgbClr val="D7E8F5"/>
                </a:solidFill>
                <a:latin typeface="Consolas"/>
              </a:rPr>
              <a:t>payload.items</a:t>
            </a:r>
          </a:p>
          <a:p>
            <a:pPr>
              <a:spcAft>
                <a:spcPts val="200"/>
              </a:spcAft>
            </a:pPr>
            <a:r>
              <a:rPr sz="1300" b="0">
                <a:solidFill>
                  <a:srgbClr val="D7E8F5"/>
                </a:solidFill>
                <a:latin typeface="Consolas"/>
              </a:rPr>
              <a:t>  map (i) -&gt; {</a:t>
            </a:r>
          </a:p>
          <a:p>
            <a:pPr>
              <a:spcAft>
                <a:spcPts val="200"/>
              </a:spcAft>
            </a:pPr>
            <a:r>
              <a:rPr sz="1300" b="0">
                <a:solidFill>
                  <a:srgbClr val="D7E8F5"/>
                </a:solidFill>
                <a:latin typeface="Consolas"/>
              </a:rPr>
              <a:t>    sku: i.sku,</a:t>
            </a:r>
          </a:p>
          <a:p>
            <a:pPr>
              <a:spcAft>
                <a:spcPts val="200"/>
              </a:spcAft>
            </a:pPr>
            <a:r>
              <a:rPr sz="1300" b="0">
                <a:solidFill>
                  <a:srgbClr val="D7E8F5"/>
                </a:solidFill>
                <a:latin typeface="Consolas"/>
              </a:rPr>
              <a:t>    gtin: (i.barcodes filter ((b) -&gt; b.type == "EAN13"))[0].id,</a:t>
            </a:r>
          </a:p>
          <a:p>
            <a:pPr>
              <a:spcAft>
                <a:spcPts val="200"/>
              </a:spcAft>
            </a:pPr>
            <a:r>
              <a:rPr sz="1300" b="0">
                <a:solidFill>
                  <a:srgbClr val="D7E8F5"/>
                </a:solidFill>
                <a:latin typeface="Consolas"/>
              </a:rPr>
              <a:t>    qtyEa: if (upper(i.uom default "EA") == "CS") (i.qty as Number) * (i.packSize default 1)</a:t>
            </a:r>
          </a:p>
          <a:p>
            <a:pPr>
              <a:spcAft>
                <a:spcPts val="200"/>
              </a:spcAft>
            </a:pPr>
            <a:r>
              <a:rPr sz="1300" b="0">
                <a:solidFill>
                  <a:srgbClr val="D7E8F5"/>
                </a:solidFill>
                <a:latin typeface="Consolas"/>
              </a:rPr>
              <a:t>           else (i.qty as Number)</a:t>
            </a:r>
          </a:p>
          <a:p>
            <a:pPr>
              <a:spcAft>
                <a:spcPts val="200"/>
              </a:spcAft>
            </a:pPr>
            <a:r>
              <a:rPr sz="1300" b="0">
                <a:solidFill>
                  <a:srgbClr val="D7E8F5"/>
                </a:solidFill>
                <a:latin typeface="Consolas"/>
              </a:rPr>
              <a:t>  }</a:t>
            </a:r>
          </a:p>
          <a:p>
            <a:pPr>
              <a:spcAft>
                <a:spcPts val="200"/>
              </a:spcAft>
            </a:pPr>
            <a:r>
              <a:rPr sz="1300" b="0">
                <a:solidFill>
                  <a:srgbClr val="D7E8F5"/>
                </a:solidFill>
                <a:latin typeface="Consolas"/>
              </a:rPr>
              <a:t>  filter ((r) -&gt; r.gtin != null)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56032"/>
            <a:ext cx="10972800" cy="365760"/>
          </a:xfrm>
          <a:prstGeom prst="rect">
            <a:avLst/>
          </a:prstGeom>
          <a:noFill/>
        </p:spPr>
        <p:txBody>
          <a:bodyPr wrap="none">
            <a:spAutoFit/>
          </a:bodyPr>
          <a:lstStyle/>
          <a:p>
            <a:r>
              <a:rPr sz="1400" b="1">
                <a:solidFill>
                  <a:srgbClr val="3EC6FF"/>
                </a:solidFill>
                <a:latin typeface="Calibri"/>
              </a:rPr>
              <a:t>LAB 88</a:t>
            </a:r>
          </a:p>
        </p:txBody>
      </p:sp>
      <p:sp>
        <p:nvSpPr>
          <p:cNvPr id="4" name="TextBox 3"/>
          <p:cNvSpPr txBox="1"/>
          <p:nvPr/>
        </p:nvSpPr>
        <p:spPr>
          <a:xfrm>
            <a:off x="640080" y="658368"/>
            <a:ext cx="10972800" cy="1645920"/>
          </a:xfrm>
          <a:prstGeom prst="rect">
            <a:avLst/>
          </a:prstGeom>
          <a:noFill/>
        </p:spPr>
        <p:txBody>
          <a:bodyPr wrap="square">
            <a:spAutoFit/>
          </a:bodyPr>
          <a:lstStyle/>
          <a:p>
            <a:r>
              <a:rPr sz="3000" b="1">
                <a:solidFill>
                  <a:srgbClr val="FFFFFF"/>
                </a:solidFill>
                <a:latin typeface="Calibri"/>
              </a:rPr>
              <a:t>Expected</a:t>
            </a:r>
          </a:p>
        </p:txBody>
      </p:sp>
      <p:sp>
        <p:nvSpPr>
          <p:cNvPr id="5" name="Rounded Rectangle 4"/>
          <p:cNvSpPr/>
          <p:nvPr/>
        </p:nvSpPr>
        <p:spPr>
          <a:xfrm>
            <a:off x="640080" y="1874519"/>
            <a:ext cx="10881360" cy="4297680"/>
          </a:xfrm>
          <a:prstGeom prst="roundRect">
            <a:avLst/>
          </a:prstGeom>
          <a:solidFill>
            <a:srgbClr val="06121C"/>
          </a:solidFill>
          <a:ln>
            <a:noFill/>
          </a:ln>
        </p:spPr>
        <p:style>
          <a:lnRef idx="1">
            <a:schemeClr val="accent1"/>
          </a:lnRef>
          <a:fillRef idx="3">
            <a:schemeClr val="accent1"/>
          </a:fillRef>
          <a:effectRef idx="2">
            <a:schemeClr val="accent1"/>
          </a:effectRef>
          <a:fontRef idx="minor">
            <a:schemeClr val="lt1"/>
          </a:fontRef>
        </p:style>
        <p:txBody>
          <a:bodyPr rtlCol="0" anchor="ctr" wrap="square" lIns="256032" tIns="164592"/>
          <a:lstStyle/>
          <a:p>
            <a:pPr algn="ctr">
              <a:spcAft>
                <a:spcPts val="200"/>
              </a:spcAft>
            </a:pPr>
            <a:r>
              <a:rPr sz="1600" b="0">
                <a:solidFill>
                  <a:srgbClr val="D7E8F5"/>
                </a:solidFill>
                <a:latin typeface="Consolas"/>
              </a:rPr>
              <a:t>[</a:t>
            </a:r>
          </a:p>
          <a:p>
            <a:pPr>
              <a:spcAft>
                <a:spcPts val="200"/>
              </a:spcAft>
            </a:pPr>
            <a:r>
              <a:rPr sz="1600" b="0">
                <a:solidFill>
                  <a:srgbClr val="D7E8F5"/>
                </a:solidFill>
                <a:latin typeface="Consolas"/>
              </a:rPr>
              <a:t>  { "sku": "S1", "gtin": "8901234567890", "qtyEa": 20 },</a:t>
            </a:r>
          </a:p>
          <a:p>
            <a:pPr>
              <a:spcAft>
                <a:spcPts val="200"/>
              </a:spcAft>
            </a:pPr>
            <a:r>
              <a:rPr sz="1600" b="0">
                <a:solidFill>
                  <a:srgbClr val="D7E8F5"/>
                </a:solidFill>
                <a:latin typeface="Consolas"/>
              </a:rPr>
              <a:t>  { "sku": "S2", "gtin": "8900000000001", "qtyEa": 3 }</a:t>
            </a:r>
          </a:p>
          <a:p>
            <a:pPr>
              <a:spcAft>
                <a:spcPts val="200"/>
              </a:spcAft>
            </a:pPr>
            <a:r>
              <a:rPr sz="1600" b="0">
                <a:solidFill>
                  <a:srgbClr val="D7E8F5"/>
                </a:solidFill>
                <a:latin typeface="Consolas"/>
              </a:rPr>
              <a: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56032"/>
            <a:ext cx="10972800" cy="365760"/>
          </a:xfrm>
          <a:prstGeom prst="rect">
            <a:avLst/>
          </a:prstGeom>
          <a:noFill/>
        </p:spPr>
        <p:txBody>
          <a:bodyPr wrap="none">
            <a:spAutoFit/>
          </a:bodyPr>
          <a:lstStyle/>
          <a:p>
            <a:r>
              <a:rPr sz="1400" b="1">
                <a:solidFill>
                  <a:srgbClr val="3EC6FF"/>
                </a:solidFill>
                <a:latin typeface="Calibri"/>
              </a:rPr>
              <a:t>LAB 88</a:t>
            </a:r>
          </a:p>
        </p:txBody>
      </p:sp>
      <p:sp>
        <p:nvSpPr>
          <p:cNvPr id="4" name="TextBox 3"/>
          <p:cNvSpPr txBox="1"/>
          <p:nvPr/>
        </p:nvSpPr>
        <p:spPr>
          <a:xfrm>
            <a:off x="640080" y="658368"/>
            <a:ext cx="7863840" cy="1645920"/>
          </a:xfrm>
          <a:prstGeom prst="rect">
            <a:avLst/>
          </a:prstGeom>
          <a:noFill/>
        </p:spPr>
        <p:txBody>
          <a:bodyPr wrap="square">
            <a:spAutoFit/>
          </a:bodyPr>
          <a:lstStyle/>
          <a:p>
            <a:r>
              <a:rPr sz="3000" b="1">
                <a:solidFill>
                  <a:srgbClr val="FFFFFF"/>
                </a:solidFill>
                <a:latin typeface="Calibri"/>
              </a:rPr>
              <a:t>Interview phrase</a:t>
            </a:r>
          </a:p>
        </p:txBody>
      </p:sp>
      <p:sp>
        <p:nvSpPr>
          <p:cNvPr id="5" name="TextBox 4"/>
          <p:cNvSpPr txBox="1"/>
          <p:nvPr/>
        </p:nvSpPr>
        <p:spPr>
          <a:xfrm>
            <a:off x="777240" y="2331720"/>
            <a:ext cx="7498079" cy="4754880"/>
          </a:xfrm>
          <a:prstGeom prst="rect">
            <a:avLst/>
          </a:prstGeom>
          <a:noFill/>
        </p:spPr>
        <p:txBody>
          <a:bodyPr wrap="square">
            <a:spAutoFit/>
          </a:bodyPr>
          <a:lstStyle/>
          <a:p>
            <a:pPr>
              <a:spcAft>
                <a:spcPts val="1400"/>
              </a:spcAft>
            </a:pPr>
            <a:r>
              <a:rPr sz="2200" b="0">
                <a:solidFill>
                  <a:srgbClr val="FFFFFF"/>
                </a:solidFill>
                <a:latin typeface="Calibri"/>
              </a:rPr>
              <a:t>•  EAN13 barcode is GTIN. Case pack CS times packSize. Drop missing GTIN.</a:t>
            </a:r>
          </a:p>
          <a:p>
            <a:pPr>
              <a:spcAft>
                <a:spcPts val="1400"/>
              </a:spcAft>
            </a:pPr>
            <a:r>
              <a:rPr sz="2200" b="0">
                <a:solidFill>
                  <a:srgbClr val="FFFFFF"/>
                </a:solidFill>
                <a:latin typeface="Calibri"/>
              </a:rPr>
              <a:t>•  If your output differs, check plus versus plus-plus, as Number, and nulls with default. Next lab is the next numbered folder.</a:t>
            </a:r>
          </a:p>
          <a:p>
            <a:pPr>
              <a:spcAft>
                <a:spcPts val="1400"/>
              </a:spcAft>
            </a:pPr>
            <a:r>
              <a:rPr sz="2200" b="0">
                <a:solidFill>
                  <a:srgbClr val="FFFFFF"/>
                </a:solidFill>
                <a:latin typeface="Calibri"/>
              </a:rPr>
              <a:t>•  Stop. Do not start Lab 89 in this file.</a:t>
            </a:r>
          </a:p>
        </p:txBody>
      </p:sp>
      <p:pic>
        <p:nvPicPr>
          <p:cNvPr id="6" name="Picture 5" descr="dw-mapping.jpg"/>
          <p:cNvPicPr>
            <a:picLocks noChangeAspect="1"/>
          </p:cNvPicPr>
          <p:nvPr/>
        </p:nvPicPr>
        <p:blipFill>
          <a:blip r:embed="rId2"/>
          <a:stretch>
            <a:fillRect/>
          </a:stretch>
        </p:blipFill>
        <p:spPr>
          <a:xfrm>
            <a:off x="8732520" y="2057400"/>
            <a:ext cx="2880360" cy="288036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