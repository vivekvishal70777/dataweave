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Lab 88. Canonical product GTIN and UoM conversion. qty in EA. If uom CS, multiply qty by packSize. gtin from first barcode type EAN13. Skip items without GTIN. EAN13 barcode is GTIN. Case pack CS times packSize. Drop missing GTIN.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3–5 seconds. Do not show the solution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EAN13 barcode is GTIN. Case pack CS times packSize. Drop missing GTIN. If your output differs, check plus versus plus-plus, as Number, and nulls with default. Next lab is the next numbered folder. Stop. Do not start Lab 89 in this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1920240"/>
            <a:ext cx="10972800" cy="1463040"/>
          </a:xfrm>
          <a:prstGeom prst="rect">
            <a:avLst/>
          </a:prstGeom>
          <a:noFill/>
        </p:spPr>
        <p:txBody>
          <a:bodyPr wrap="square">
            <a:spAutoFit/>
          </a:bodyPr>
          <a:lstStyle/>
          <a:p>
            <a:r>
              <a:rPr sz="4400" b="1">
                <a:solidFill>
                  <a:srgbClr val="FFFFFF"/>
                </a:solidFill>
                <a:latin typeface="Calibri"/>
              </a:rPr>
              <a:t>Canonical product GTIN and UoM conversion</a:t>
            </a:r>
          </a:p>
        </p:txBody>
      </p:sp>
      <p:sp>
        <p:nvSpPr>
          <p:cNvPr id="5" name="TextBox 4"/>
          <p:cNvSpPr txBox="1"/>
          <p:nvPr/>
        </p:nvSpPr>
        <p:spPr>
          <a:xfrm>
            <a:off x="640080" y="3657600"/>
            <a:ext cx="10789920" cy="1097280"/>
          </a:xfrm>
          <a:prstGeom prst="rect">
            <a:avLst/>
          </a:prstGeom>
          <a:noFill/>
        </p:spPr>
        <p:txBody>
          <a:bodyPr wrap="square">
            <a:spAutoFit/>
          </a:bodyPr>
          <a:lstStyle/>
          <a:p>
            <a:r>
              <a:rPr sz="2000" b="0">
                <a:solidFill>
                  <a:srgbClr val="B7CBDE"/>
                </a:solidFill>
                <a:latin typeface="Calibri"/>
              </a:rPr>
              <a:t>Show the failing starter first. Hold the pause card before any solution.</a:t>
            </a:r>
          </a:p>
        </p:txBody>
      </p:sp>
      <p:sp>
        <p:nvSpPr>
          <p:cNvPr id="6" name="TextBox 5"/>
          <p:cNvSpPr txBox="1"/>
          <p:nvPr/>
        </p:nvSpPr>
        <p:spPr>
          <a:xfrm>
            <a:off x="640080" y="5029200"/>
            <a:ext cx="10972800" cy="457200"/>
          </a:xfrm>
          <a:prstGeom prst="rect">
            <a:avLst/>
          </a:prstGeom>
          <a:noFill/>
        </p:spPr>
        <p:txBody>
          <a:bodyPr wrap="none">
            <a:spAutoFit/>
          </a:bodyPr>
          <a:lstStyle/>
          <a:p>
            <a:r>
              <a:rPr sz="1600" b="0">
                <a:solidFill>
                  <a:srgbClr val="3EC6FF"/>
                </a:solidFill>
                <a:latin typeface="Calibri"/>
              </a:rPr>
              <a:t>mapping   ·   8–12 min   ·   LAB-88-canonical-product-gtin-and-uom-conversion.mp4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The job</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This is Lab 88. Canonical product GTIN and UoM conversion. qty in EA. If uom CS, multiply qty by packSize. gtin from first barcode type EAN13.</a:t>
            </a:r>
          </a:p>
          <a:p>
            <a:pPr>
              <a:spcAft>
                <a:spcPts val="1400"/>
              </a:spcAft>
            </a:pPr>
            <a:r>
              <a:rPr sz="2400" b="0">
                <a:solidFill>
                  <a:srgbClr val="FFFFFF"/>
                </a:solidFill>
                <a:latin typeface="Calibri"/>
              </a:rPr>
              <a:t>•  Skip items without GTIN.</a:t>
            </a:r>
          </a:p>
          <a:p>
            <a:pPr>
              <a:spcAft>
                <a:spcPts val="1400"/>
              </a:spcAft>
            </a:pPr>
            <a:r>
              <a:rPr sz="2400" b="0">
                <a:solidFill>
                  <a:srgbClr val="FFFFFF"/>
                </a:solidFill>
                <a:latin typeface="Calibri"/>
              </a:rPr>
              <a:t>•  EAN13 barcode is GTIN. Case pack CS times packSize. Drop missing GTIN.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Paste the payload</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Set the MIME type to match the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Input</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a:t>
            </a:r>
          </a:p>
          <a:p>
            <a:pPr>
              <a:spcAft>
                <a:spcPts val="200"/>
              </a:spcAft>
            </a:pPr>
            <a:r>
              <a:rPr sz="1600" b="0">
                <a:solidFill>
                  <a:srgbClr val="D7E8F5"/>
                </a:solidFill>
                <a:latin typeface="Consolas"/>
              </a:rPr>
              <a:t>  "items": [</a:t>
            </a:r>
          </a:p>
          <a:p>
            <a:pPr>
              <a:spcAft>
                <a:spcPts val="200"/>
              </a:spcAft>
            </a:pPr>
            <a:r>
              <a:rPr sz="1600" b="0">
                <a:solidFill>
                  <a:srgbClr val="D7E8F5"/>
                </a:solidFill>
                <a:latin typeface="Consolas"/>
              </a:rPr>
              <a:t>    { "sku": "S1", "qty": 2, "uom": "CS", "packSize": 10, "barcodes": [{ "type": "UPC", "id": "x" }, { "type": "EAN13", "id": "8901234567890" }] },</a:t>
            </a:r>
          </a:p>
          <a:p>
            <a:pPr>
              <a:spcAft>
                <a:spcPts val="200"/>
              </a:spcAft>
            </a:pPr>
            <a:r>
              <a:rPr sz="1600" b="0">
                <a:solidFill>
                  <a:srgbClr val="D7E8F5"/>
                </a:solidFill>
                <a:latin typeface="Consolas"/>
              </a:rPr>
              <a:t>    { "sku": "S2", "qty": 3, "uom": "EA", "packSize": 1, "barcodes": [{ "type": "EAN13", "id": "8900000000001" }] },</a:t>
            </a:r>
          </a:p>
          <a:p>
            <a:pPr>
              <a:spcAft>
                <a:spcPts val="200"/>
              </a:spcAft>
            </a:pPr>
            <a:r>
              <a:rPr sz="1600" b="0">
                <a:solidFill>
                  <a:srgbClr val="D7E8F5"/>
                </a:solidFill>
                <a:latin typeface="Consolas"/>
              </a:rPr>
              <a:t>    { "sku": "S3", "qty": 1, "uom": "EA", "barcodes": [] }</a:t>
            </a:r>
          </a:p>
          <a:p>
            <a:pPr>
              <a:spcAft>
                <a:spcPts val="200"/>
              </a:spcAft>
            </a:pPr>
            <a:r>
              <a:rPr sz="1600" b="0">
                <a:solidFill>
                  <a:srgbClr val="D7E8F5"/>
                </a:solidFill>
                <a:latin typeface="Consolas"/>
              </a:rPr>
              <a:t>  ]</a:t>
            </a:r>
          </a:p>
          <a:p>
            <a:pPr>
              <a:spcAft>
                <a:spcPts val="200"/>
              </a:spcAft>
            </a:pPr>
            <a:r>
              <a:rPr sz="1600" b="0">
                <a:solidFill>
                  <a:srgbClr val="D7E8F5"/>
                </a:solidFill>
                <a:latin typeface="Consola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D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FFB020"/>
                </a:solidFill>
                <a:latin typeface="Calibri"/>
              </a:rPr>
              <a:t>PAUSE CARD</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Pause — try Lab 88</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B020"/>
                </a:solidFill>
                <a:latin typeface="Calibri"/>
              </a:rPr>
              <a:t>•  Pause the video</a:t>
            </a:r>
          </a:p>
          <a:p>
            <a:pPr>
              <a:spcAft>
                <a:spcPts val="1400"/>
              </a:spcAft>
            </a:pPr>
            <a:r>
              <a:rPr sz="2400" b="0">
                <a:solidFill>
                  <a:srgbClr val="FFB020"/>
                </a:solidFill>
                <a:latin typeface="Calibri"/>
              </a:rPr>
              <a:t>•  Open student/labs/05-mapping/88-canonical-product-gtin-and-uom-conversion/</a:t>
            </a:r>
          </a:p>
          <a:p>
            <a:pPr>
              <a:spcAft>
                <a:spcPts val="1400"/>
              </a:spcAft>
            </a:pPr>
            <a:r>
              <a:rPr sz="2400" b="0">
                <a:solidFill>
                  <a:srgbClr val="FFB020"/>
                </a:solidFill>
                <a:latin typeface="Calibri"/>
              </a:rPr>
              <a:t>•  Finish transform.dwl — wrong is fine</a:t>
            </a:r>
          </a:p>
          <a:p>
            <a:pPr>
              <a:spcAft>
                <a:spcPts val="1400"/>
              </a:spcAft>
            </a:pPr>
            <a:r>
              <a:rPr sz="2400" b="0">
                <a:solidFill>
                  <a:srgbClr val="FFB020"/>
                </a:solidFill>
                <a:latin typeface="Calibri"/>
              </a:rPr>
              <a:t>•  Resume when you have an attempt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Welcome back</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Welcome back. I will type the reference script. Follow along; do not paste blindly. Header first: percent dw two point oh, output, dash dash dash.</a:t>
            </a:r>
          </a:p>
          <a:p>
            <a:pPr>
              <a:spcAft>
                <a:spcPts val="1400"/>
              </a:spcAft>
            </a:pPr>
            <a:r>
              <a:rPr sz="2400" b="0">
                <a:solidFill>
                  <a:srgbClr val="FFFFFF"/>
                </a:solidFill>
                <a:latin typeface="Calibri"/>
              </a:rPr>
              <a:t>•  That should match Expected: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Solution</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300" b="0">
                <a:solidFill>
                  <a:srgbClr val="D7E8F5"/>
                </a:solidFill>
                <a:latin typeface="Consolas"/>
              </a:rPr>
              <a:t>%dw 2.0</a:t>
            </a:r>
          </a:p>
          <a:p>
            <a:pPr>
              <a:spcAft>
                <a:spcPts val="200"/>
              </a:spcAft>
            </a:pPr>
            <a:r>
              <a:rPr sz="1300" b="0">
                <a:solidFill>
                  <a:srgbClr val="D7E8F5"/>
                </a:solidFill>
                <a:latin typeface="Consolas"/>
              </a:rPr>
              <a:t>output application/json</a:t>
            </a:r>
          </a:p>
          <a:p>
            <a:pPr>
              <a:spcAft>
                <a:spcPts val="200"/>
              </a:spcAft>
            </a:pPr>
            <a:r>
              <a:rPr sz="1300" b="0">
                <a:solidFill>
                  <a:srgbClr val="D7E8F5"/>
                </a:solidFill>
                <a:latin typeface="Consolas"/>
              </a:rPr>
              <a:t>---</a:t>
            </a:r>
          </a:p>
          <a:p>
            <a:pPr>
              <a:spcAft>
                <a:spcPts val="200"/>
              </a:spcAft>
            </a:pPr>
            <a:r>
              <a:rPr sz="1300" b="0">
                <a:solidFill>
                  <a:srgbClr val="D7E8F5"/>
                </a:solidFill>
                <a:latin typeface="Consolas"/>
              </a:rPr>
              <a:t>payload.items</a:t>
            </a:r>
          </a:p>
          <a:p>
            <a:pPr>
              <a:spcAft>
                <a:spcPts val="200"/>
              </a:spcAft>
            </a:pPr>
            <a:r>
              <a:rPr sz="1300" b="0">
                <a:solidFill>
                  <a:srgbClr val="D7E8F5"/>
                </a:solidFill>
                <a:latin typeface="Consolas"/>
              </a:rPr>
              <a:t>  map (i) -&gt; {</a:t>
            </a:r>
          </a:p>
          <a:p>
            <a:pPr>
              <a:spcAft>
                <a:spcPts val="200"/>
              </a:spcAft>
            </a:pPr>
            <a:r>
              <a:rPr sz="1300" b="0">
                <a:solidFill>
                  <a:srgbClr val="D7E8F5"/>
                </a:solidFill>
                <a:latin typeface="Consolas"/>
              </a:rPr>
              <a:t>    sku: i.sku,</a:t>
            </a:r>
          </a:p>
          <a:p>
            <a:pPr>
              <a:spcAft>
                <a:spcPts val="200"/>
              </a:spcAft>
            </a:pPr>
            <a:r>
              <a:rPr sz="1300" b="0">
                <a:solidFill>
                  <a:srgbClr val="D7E8F5"/>
                </a:solidFill>
                <a:latin typeface="Consolas"/>
              </a:rPr>
              <a:t>    gtin: (i.barcodes filter ((b) -&gt; b.type == "EAN13"))[0].id,</a:t>
            </a:r>
          </a:p>
          <a:p>
            <a:pPr>
              <a:spcAft>
                <a:spcPts val="200"/>
              </a:spcAft>
            </a:pPr>
            <a:r>
              <a:rPr sz="1300" b="0">
                <a:solidFill>
                  <a:srgbClr val="D7E8F5"/>
                </a:solidFill>
                <a:latin typeface="Consolas"/>
              </a:rPr>
              <a:t>    qtyEa: if (upper(i.uom default "EA") == "CS") (i.qty as Number) * (i.packSize default 1)</a:t>
            </a:r>
          </a:p>
          <a:p>
            <a:pPr>
              <a:spcAft>
                <a:spcPts val="200"/>
              </a:spcAft>
            </a:pPr>
            <a:r>
              <a:rPr sz="1300" b="0">
                <a:solidFill>
                  <a:srgbClr val="D7E8F5"/>
                </a:solidFill>
                <a:latin typeface="Consolas"/>
              </a:rPr>
              <a:t>           else (i.qty as Number)</a:t>
            </a:r>
          </a:p>
          <a:p>
            <a:pPr>
              <a:spcAft>
                <a:spcPts val="200"/>
              </a:spcAft>
            </a:pPr>
            <a:r>
              <a:rPr sz="1300" b="0">
                <a:solidFill>
                  <a:srgbClr val="D7E8F5"/>
                </a:solidFill>
                <a:latin typeface="Consolas"/>
              </a:rPr>
              <a:t>  }</a:t>
            </a:r>
          </a:p>
          <a:p>
            <a:pPr>
              <a:spcAft>
                <a:spcPts val="200"/>
              </a:spcAft>
            </a:pPr>
            <a:r>
              <a:rPr sz="1300" b="0">
                <a:solidFill>
                  <a:srgbClr val="D7E8F5"/>
                </a:solidFill>
                <a:latin typeface="Consolas"/>
              </a:rPr>
              <a:t>  filter ((r) -&gt; r.gtin != null)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Expected</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a:t>
            </a:r>
          </a:p>
          <a:p>
            <a:pPr>
              <a:spcAft>
                <a:spcPts val="200"/>
              </a:spcAft>
            </a:pPr>
            <a:r>
              <a:rPr sz="1600" b="0">
                <a:solidFill>
                  <a:srgbClr val="D7E8F5"/>
                </a:solidFill>
                <a:latin typeface="Consolas"/>
              </a:rPr>
              <a:t>  { "sku": "S1", "gtin": "8901234567890", "qtyEa": 20 },</a:t>
            </a:r>
          </a:p>
          <a:p>
            <a:pPr>
              <a:spcAft>
                <a:spcPts val="200"/>
              </a:spcAft>
            </a:pPr>
            <a:r>
              <a:rPr sz="1600" b="0">
                <a:solidFill>
                  <a:srgbClr val="D7E8F5"/>
                </a:solidFill>
                <a:latin typeface="Consolas"/>
              </a:rPr>
              <a:t>  { "sku": "S2", "gtin": "8900000000001", "qtyEa": 3 }</a:t>
            </a:r>
          </a:p>
          <a:p>
            <a:pPr>
              <a:spcAft>
                <a:spcPts val="200"/>
              </a:spcAft>
            </a:pPr>
            <a:r>
              <a:rPr sz="1600" b="0">
                <a:solidFill>
                  <a:srgbClr val="D7E8F5"/>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88</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Interview phrase</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EAN13 barcode is GTIN. Case pack CS times packSize. Drop missing GTIN.</a:t>
            </a:r>
          </a:p>
          <a:p>
            <a:pPr>
              <a:spcAft>
                <a:spcPts val="1400"/>
              </a:spcAft>
            </a:pPr>
            <a:r>
              <a:rPr sz="2400" b="0">
                <a:solidFill>
                  <a:srgbClr val="FFFFFF"/>
                </a:solidFill>
                <a:latin typeface="Calibri"/>
              </a:rPr>
              <a:t>•  If your output differs, check plus versus plus-plus, as Number, and nulls with default. Next lab is the next numbered folder.</a:t>
            </a:r>
          </a:p>
          <a:p>
            <a:pPr>
              <a:spcAft>
                <a:spcPts val="1400"/>
              </a:spcAft>
            </a:pPr>
            <a:r>
              <a:rPr sz="2400" b="0">
                <a:solidFill>
                  <a:srgbClr val="FFFFFF"/>
                </a:solidFill>
                <a:latin typeface="Calibri"/>
              </a:rPr>
              <a:t>•  Stop. Do not start Lab 89 in this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