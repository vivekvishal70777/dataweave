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jp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9"/>
    <p:sldId id="258" r:id="rId10"/>
    <p:sldId id="259" r:id="rId11"/>
    <p:sldId id="260" r:id="rId12"/>
    <p:sldId id="261" r:id="rId13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notesMaster" Target="notesMasters/notesMaster1.xml"/><Relationship Id="rId9" Type="http://schemas.openxmlformats.org/officeDocument/2006/relationships/slide" Target="slides/slide2.xml"/><Relationship Id="rId10" Type="http://schemas.openxmlformats.org/officeDocument/2006/relationships/slide" Target="slides/slide3.xml"/><Relationship Id="rId11" Type="http://schemas.openxmlformats.org/officeDocument/2006/relationships/slide" Target="slides/slide4.xml"/><Relationship Id="rId12" Type="http://schemas.openxmlformats.org/officeDocument/2006/relationships/slide" Target="slides/slide5.xml"/><Relationship Id="rId13" Type="http://schemas.openxmlformats.org/officeDocument/2006/relationships/slide" Target="slides/slide6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F89C1C7-3DCD-1040-A9CF-14679D8B5DDD}" type="datetimeFigureOut">
              <a:rPr lang="en-US" smtClean="0"/>
              <a:t>10/17/16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1143000" y="685800"/>
            <a:ext cx="4572000" cy="34290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BB5E49A5-4136-284D-997B-48E1D791AD6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23252185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notesSlide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Open PowerPoint Slide Show (F5). Share this window. Switch to Playground on code slides.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Type this. Read the header: percent dw two point oh, output, dash dash dash.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Relationship Id="rId3" Type="http://schemas.openxmlformats.org/officeDocument/2006/relationships/notesSlide" Target="../notesSlides/notesSlide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F274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256032"/>
            <a:ext cx="1097280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400" b="1">
                <a:solidFill>
                  <a:srgbClr val="3EC6FF"/>
                </a:solidFill>
                <a:latin typeface="Calibri"/>
              </a:rPr>
              <a:t>ADVANCED: RECURSION, NAMESPACES, DIFFS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1828800"/>
            <a:ext cx="6675120" cy="1645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4000" b="1">
                <a:solidFill>
                  <a:srgbClr val="FFFFFF"/>
                </a:solidFill>
                <a:latin typeface="Calibri"/>
              </a:rPr>
              <a:t>Dynamic keys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" y="3794760"/>
            <a:ext cx="667512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800" b="0">
                <a:solidFill>
                  <a:srgbClr val="B7CBDE"/>
                </a:solidFill>
                <a:latin typeface="Calibri"/>
              </a:rPr>
              <a:t>Plain-language walkthrough. Then jump to the matching concept or lab video.</a:t>
            </a:r>
          </a:p>
        </p:txBody>
      </p:sp>
      <p:pic>
        <p:nvPicPr>
          <p:cNvPr id="6" name="Picture 5" descr="dw-recursion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452360" y="1325880"/>
            <a:ext cx="4160520" cy="4160520"/>
          </a:xfrm>
          <a:prstGeom prst="rect">
            <a:avLst/>
          </a:prstGeom>
        </p:spPr>
      </p:pic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F274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256032"/>
            <a:ext cx="1097280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400" b="1">
                <a:solidFill>
                  <a:srgbClr val="3EC6FF"/>
                </a:solidFill>
                <a:latin typeface="Calibri"/>
              </a:rPr>
              <a:t>ADVANCED: RECURSION, NAMESPACES, DIFFS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58368"/>
            <a:ext cx="7863840" cy="1645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3000" b="1">
                <a:solidFill>
                  <a:srgbClr val="FFFFFF"/>
                </a:solidFill>
                <a:latin typeface="Calibri"/>
              </a:rPr>
              <a:t>In one sentence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77240" y="2331720"/>
            <a:ext cx="7498079" cy="4754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400"/>
              </a:spcAft>
            </a:pPr>
            <a:r>
              <a:rPr sz="2200" b="0">
                <a:solidFill>
                  <a:srgbClr val="FFFFFF"/>
                </a:solidFill>
                <a:latin typeface="Calibri"/>
              </a:rPr>
              <a:t>•  Wrap the key expression in parentheses: { (item.id): item.name }.</a:t>
            </a:r>
          </a:p>
        </p:txBody>
      </p:sp>
      <p:pic>
        <p:nvPicPr>
          <p:cNvPr id="6" name="Picture 5" descr="dw-recursion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732520" y="2057400"/>
            <a:ext cx="2880360" cy="2880360"/>
          </a:xfrm>
          <a:prstGeom prst="rect">
            <a:avLst/>
          </a:prstGeom>
        </p:spPr>
      </p:pic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F274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256032"/>
            <a:ext cx="1097280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400" b="1">
                <a:solidFill>
                  <a:srgbClr val="3EC6FF"/>
                </a:solidFill>
                <a:latin typeface="Calibri"/>
              </a:rPr>
              <a:t>ADVANCED: RECURSION, NAMESPACES, DIFFS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58368"/>
            <a:ext cx="7863840" cy="1645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3000" b="1">
                <a:solidFill>
                  <a:srgbClr val="FFFFFF"/>
                </a:solidFill>
                <a:latin typeface="Calibri"/>
              </a:rPr>
              <a:t>Like this in real life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77240" y="2331720"/>
            <a:ext cx="7498079" cy="4754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400"/>
              </a:spcAft>
            </a:pPr>
            <a:r>
              <a:rPr sz="2200" b="0">
                <a:solidFill>
                  <a:srgbClr val="FFFFFF"/>
                </a:solidFill>
                <a:latin typeface="Calibri"/>
              </a:rPr>
              <a:t>•  The label on the box is printed from the barcode, not handwritten as the word “item.id”.</a:t>
            </a:r>
          </a:p>
        </p:txBody>
      </p:sp>
      <p:pic>
        <p:nvPicPr>
          <p:cNvPr id="6" name="Picture 5" descr="dw-recursion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732520" y="2057400"/>
            <a:ext cx="2880360" cy="2880360"/>
          </a:xfrm>
          <a:prstGeom prst="rect">
            <a:avLst/>
          </a:prstGeom>
        </p:spPr>
      </p:pic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F274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256032"/>
            <a:ext cx="1097280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400" b="1">
                <a:solidFill>
                  <a:srgbClr val="3EC6FF"/>
                </a:solidFill>
                <a:latin typeface="Calibri"/>
              </a:rPr>
              <a:t>ADVANCED: RECURSION, NAMESPACES, DIFFS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58368"/>
            <a:ext cx="7863840" cy="1645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3000" b="1">
                <a:solidFill>
                  <a:srgbClr val="FFFFFF"/>
                </a:solidFill>
                <a:latin typeface="Calibri"/>
              </a:rPr>
              <a:t>Tiny example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77240" y="2331720"/>
            <a:ext cx="7498079" cy="4754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400"/>
              </a:spcAft>
            </a:pPr>
            <a:r>
              <a:rPr sz="2200" b="0">
                <a:solidFill>
                  <a:srgbClr val="FFFFFF"/>
                </a:solidFill>
                <a:latin typeface="Calibri"/>
              </a:rPr>
              <a:t>•  Read this slowly. Header first, then the body.</a:t>
            </a:r>
          </a:p>
        </p:txBody>
      </p:sp>
      <p:pic>
        <p:nvPicPr>
          <p:cNvPr id="6" name="Picture 5" descr="dw-recursion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732520" y="2057400"/>
            <a:ext cx="2880360" cy="2880360"/>
          </a:xfrm>
          <a:prstGeom prst="rect">
            <a:avLst/>
          </a:prstGeom>
        </p:spPr>
      </p:pic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F274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256032"/>
            <a:ext cx="1097280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400" b="1">
                <a:solidFill>
                  <a:srgbClr val="3EC6FF"/>
                </a:solidFill>
                <a:latin typeface="Calibri"/>
              </a:rPr>
              <a:t>ADVANCED: RECURSION, NAMESPACES, DIFFS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58368"/>
            <a:ext cx="10972800" cy="1645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3000" b="1">
                <a:solidFill>
                  <a:srgbClr val="FFFFFF"/>
                </a:solidFill>
                <a:latin typeface="Calibri"/>
              </a:rPr>
              <a:t>Tiny example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640080" y="1874519"/>
            <a:ext cx="10881360" cy="4297680"/>
          </a:xfrm>
          <a:prstGeom prst="roundRect">
            <a:avLst/>
          </a:prstGeom>
          <a:solidFill>
            <a:srgbClr val="06121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56032" tIns="164592"/>
          <a:lstStyle/>
          <a:p>
            <a:pPr algn="ctr">
              <a:spcAft>
                <a:spcPts val="200"/>
              </a:spcAft>
            </a:pPr>
            <a:r>
              <a:rPr sz="1600" b="0">
                <a:solidFill>
                  <a:srgbClr val="D7E8F5"/>
                </a:solidFill>
                <a:latin typeface="Consolas"/>
              </a:rPr>
              <a:t>%dw 2.0</a:t>
            </a:r>
          </a:p>
          <a:p>
            <a:pPr>
              <a:spcAft>
                <a:spcPts val="200"/>
              </a:spcAft>
            </a:pPr>
            <a:r>
              <a:rPr sz="1600" b="0">
                <a:solidFill>
                  <a:srgbClr val="D7E8F5"/>
                </a:solidFill>
                <a:latin typeface="Consolas"/>
              </a:rPr>
              <a:t>output application/json</a:t>
            </a:r>
          </a:p>
          <a:p>
            <a:pPr>
              <a:spcAft>
                <a:spcPts val="200"/>
              </a:spcAft>
            </a:pPr>
            <a:r>
              <a:rPr sz="1600" b="0">
                <a:solidFill>
                  <a:srgbClr val="D7E8F5"/>
                </a:solidFill>
                <a:latin typeface="Consolas"/>
              </a:rPr>
              <a:t>---</a:t>
            </a:r>
          </a:p>
          <a:p>
            <a:pPr>
              <a:spcAft>
                <a:spcPts val="200"/>
              </a:spcAft>
            </a:pPr>
            <a:r>
              <a:rPr sz="1600" b="0">
                <a:solidFill>
                  <a:srgbClr val="D7E8F5"/>
                </a:solidFill>
                <a:latin typeface="Consolas"/>
              </a:rPr>
              <a:t>payload.fields reduce ((f, acc = {}) -&gt; acc ++ {</a:t>
            </a:r>
          </a:p>
          <a:p>
            <a:pPr>
              <a:spcAft>
                <a:spcPts val="200"/>
              </a:spcAft>
            </a:pPr>
            <a:r>
              <a:rPr sz="1600" b="0">
                <a:solidFill>
                  <a:srgbClr val="D7E8F5"/>
                </a:solidFill>
                <a:latin typeface="Consolas"/>
              </a:rPr>
              <a:t>  (f.name): f.value</a:t>
            </a:r>
          </a:p>
          <a:p>
            <a:pPr>
              <a:spcAft>
                <a:spcPts val="200"/>
              </a:spcAft>
            </a:pPr>
            <a:r>
              <a:rPr sz="1600" b="0">
                <a:solidFill>
                  <a:srgbClr val="D7E8F5"/>
                </a:solidFill>
                <a:latin typeface="Consolas"/>
              </a:rPr>
              <a:t>})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F274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256032"/>
            <a:ext cx="1097280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400" b="1">
                <a:solidFill>
                  <a:srgbClr val="3EC6FF"/>
                </a:solidFill>
                <a:latin typeface="Calibri"/>
              </a:rPr>
              <a:t>ADVANCED: RECURSION, NAMESPACES, DIFFS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58368"/>
            <a:ext cx="7863840" cy="1645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3000" b="1">
                <a:solidFill>
                  <a:srgbClr val="FFFFFF"/>
                </a:solidFill>
                <a:latin typeface="Calibri"/>
              </a:rPr>
              <a:t>Remember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77240" y="2331720"/>
            <a:ext cx="7498079" cy="4754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400"/>
              </a:spcAft>
            </a:pPr>
            <a:r>
              <a:rPr sz="2200" b="0">
                <a:solidFill>
                  <a:srgbClr val="FFFFFF"/>
                </a:solidFill>
                <a:latin typeface="Calibri"/>
              </a:rPr>
              <a:t>•  Without ( ), the key is the literal text. This is a top interview trap.</a:t>
            </a:r>
          </a:p>
          <a:p>
            <a:pPr>
              <a:spcAft>
                <a:spcPts val="1400"/>
              </a:spcAft>
            </a:pPr>
            <a:r>
              <a:rPr sz="2200" b="0">
                <a:solidFill>
                  <a:srgbClr val="FFFFFF"/>
                </a:solidFill>
                <a:latin typeface="Calibri"/>
              </a:rPr>
              <a:t>•  After you try the lab for this section, replay the concept video. Spoken model answers are on the bootcamp mock video — not in a downloadable answer key.</a:t>
            </a:r>
          </a:p>
        </p:txBody>
      </p:sp>
      <p:pic>
        <p:nvPicPr>
          <p:cNvPr id="6" name="Picture 5" descr="dw-recursion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732520" y="2057400"/>
            <a:ext cx="2880360" cy="2880360"/>
          </a:xfrm>
          <a:prstGeom prst="rect">
            <a:avLst/>
          </a:prstGeom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